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My project is Figgy Bank, a C# console banking application. I built it to apply object-oriented programming, Entity Framework Core, SQL Server, and persistent data workflows in one complete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goal was not just to make a menu work. I wanted the data to persist. I started with objects and lists, then connected the application to SQL Server through EF Core so account balances, transactions, passwords, and requests survive restarts.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training banking simulation. It solves the application problems of managing accounts, moving money, preserving history, handling requests, and keeping data persistent. It is not intended to represent a production banking security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customer side, users can view accounts, withdraw, deposit, transfer, review the last five transactions, request a cheque book, and change their password. The important point is that these operations now work with persisted database entities.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Admin menu demonstrates CRUD-style account management and approval workflows. It also includes the password reset feature, where the system generates a temporary password and marks the customer as required to change it after login.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uses C# on .NET 10, EF Core as the ORM, and SQL Server as the database. I used the Code First approach, which allowed the C# model to define the database structure and migrations to evolve that structure.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starts with the console UI. The menu calls methods on C# objects. EF Core tracks those entities through BankContext, and SaveChanges translates the changes into SQL operations. DatabaseService is used to load the customer and related data without putting all database-loading logic in Program.cs.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relationship is one Customer to many Accounts. Each Account can have many Transactions and many ChequeBookRequests. Savings and Checking inherit from the abstract Account model, and EF Core maps those account types through inheritance.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presentation, I would either use these representative views or replace them with screenshots from the running application. I would demo one transaction and one approval workflow rather than every menu option to stay within the time limit.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feature I improved was password reset. Instead of an admin choosing a permanent password, the application generates a temporary five-character password and sets MustChangePassword to true. After the customer logs in, they must choose a new password, then the flag is set back to false. For production, I would replace plaintext storage with password hashing and secure reset tokens.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major enhancement would be customer onboarding: creating new customers and accounts rather than using one initial customer. I would also strengthen security with password hashing, reset tokens, lockouts, roles, and audit logs. Other improvements include decimal for money, a web interface, reporting, and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I’m happy to answer questions about the design, Entity Framework integration, database relationships, migrations, or any of the customer and admin workflows.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Oval 1"/>
          <p:cNvSpPr/>
          <p:nvPr/>
        </p:nvSpPr>
        <p:spPr>
          <a:xfrm>
            <a:off x="9692640" y="640080"/>
            <a:ext cx="1097280" cy="10972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554480"/>
            <a:ext cx="594360" cy="59436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5212080"/>
            <a:ext cx="731520" cy="73152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17320"/>
            <a:ext cx="8046720" cy="1188720"/>
          </a:xfrm>
          <a:prstGeom prst="rect">
            <a:avLst/>
          </a:prstGeom>
          <a:noFill/>
        </p:spPr>
        <p:txBody>
          <a:bodyPr wrap="none">
            <a:spAutoFit/>
          </a:bodyPr>
          <a:lstStyle/>
          <a:p>
            <a:pPr>
              <a:defRPr sz="5200" b="1">
                <a:solidFill>
                  <a:srgbClr val="F5F8FC"/>
                </a:solidFill>
                <a:latin typeface="Aptos Display"/>
              </a:defRPr>
            </a:pPr>
            <a:r>
              <a:t>FIGGY BANK</a:t>
            </a:r>
          </a:p>
        </p:txBody>
      </p:sp>
      <p:sp>
        <p:nvSpPr>
          <p:cNvPr id="6" name="TextBox 5"/>
          <p:cNvSpPr txBox="1"/>
          <p:nvPr/>
        </p:nvSpPr>
        <p:spPr>
          <a:xfrm>
            <a:off x="822960" y="2560320"/>
            <a:ext cx="7955279" cy="731520"/>
          </a:xfrm>
          <a:prstGeom prst="rect">
            <a:avLst/>
          </a:prstGeom>
          <a:noFill/>
        </p:spPr>
        <p:txBody>
          <a:bodyPr wrap="none">
            <a:spAutoFit/>
          </a:bodyPr>
          <a:lstStyle/>
          <a:p>
            <a:pPr>
              <a:defRPr sz="2400">
                <a:solidFill>
                  <a:srgbClr val="26C6DA"/>
                </a:solidFill>
                <a:latin typeface="Aptos"/>
              </a:defRPr>
            </a:pPr>
            <a:r>
              <a:t>C# Banking Console Application</a:t>
            </a:r>
          </a:p>
        </p:txBody>
      </p:sp>
      <p:sp>
        <p:nvSpPr>
          <p:cNvPr id="7" name="TextBox 6"/>
          <p:cNvSpPr txBox="1"/>
          <p:nvPr/>
        </p:nvSpPr>
        <p:spPr>
          <a:xfrm>
            <a:off x="822960" y="3337560"/>
            <a:ext cx="7772400" cy="1097280"/>
          </a:xfrm>
          <a:prstGeom prst="rect">
            <a:avLst/>
          </a:prstGeom>
          <a:noFill/>
        </p:spPr>
        <p:txBody>
          <a:bodyPr wrap="none">
            <a:spAutoFit/>
          </a:bodyPr>
          <a:lstStyle/>
          <a:p>
            <a:pPr>
              <a:defRPr sz="1600">
                <a:solidFill>
                  <a:srgbClr val="A6B5C9"/>
                </a:solidFill>
                <a:latin typeface="Aptos"/>
              </a:defRPr>
            </a:pPr>
            <a:r>
              <a:t>OOP • Entity Framework Core • SQL Server • Persistent Banking Workflows</a:t>
            </a:r>
          </a:p>
        </p:txBody>
      </p:sp>
      <p:sp>
        <p:nvSpPr>
          <p:cNvPr id="8" name="TextBox 7"/>
          <p:cNvSpPr txBox="1"/>
          <p:nvPr/>
        </p:nvSpPr>
        <p:spPr>
          <a:xfrm>
            <a:off x="822960" y="5806440"/>
            <a:ext cx="7315200" cy="411480"/>
          </a:xfrm>
          <a:prstGeom prst="rect">
            <a:avLst/>
          </a:prstGeom>
          <a:noFill/>
        </p:spPr>
        <p:txBody>
          <a:bodyPr wrap="none">
            <a:spAutoFit/>
          </a:bodyPr>
          <a:lstStyle/>
          <a:p>
            <a:pPr>
              <a:defRPr sz="1400">
                <a:solidFill>
                  <a:srgbClr val="F5F8FC"/>
                </a:solidFill>
                <a:latin typeface="Aptos"/>
              </a:defRPr>
            </a:pPr>
            <a:r>
              <a:t>Brandon Figueroa  |  Project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About the Project</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From console logic to a persistent database-backed application</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02</a:t>
            </a:r>
          </a:p>
        </p:txBody>
      </p:sp>
      <p:sp>
        <p:nvSpPr>
          <p:cNvPr id="7" name="Rounded Rectangle 6"/>
          <p:cNvSpPr/>
          <p:nvPr/>
        </p:nvSpPr>
        <p:spPr>
          <a:xfrm>
            <a:off x="685800" y="1417320"/>
            <a:ext cx="3474720" cy="18288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86968" y="160020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581912"/>
            <a:ext cx="411480" cy="411480"/>
          </a:xfrm>
          <a:prstGeom prst="rect">
            <a:avLst/>
          </a:prstGeom>
          <a:noFill/>
        </p:spPr>
        <p:txBody>
          <a:bodyPr wrap="none">
            <a:spAutoFit/>
          </a:bodyPr>
          <a:lstStyle/>
          <a:p>
            <a:pPr algn="ctr">
              <a:defRPr sz="1600" b="1">
                <a:solidFill>
                  <a:srgbClr val="081224"/>
                </a:solidFill>
              </a:defRPr>
            </a:pPr>
            <a:r>
              <a:t>01</a:t>
            </a:r>
          </a:p>
        </p:txBody>
      </p:sp>
      <p:sp>
        <p:nvSpPr>
          <p:cNvPr id="10" name="TextBox 9"/>
          <p:cNvSpPr txBox="1"/>
          <p:nvPr/>
        </p:nvSpPr>
        <p:spPr>
          <a:xfrm>
            <a:off x="1417320" y="1600200"/>
            <a:ext cx="2514600" cy="411480"/>
          </a:xfrm>
          <a:prstGeom prst="rect">
            <a:avLst/>
          </a:prstGeom>
          <a:noFill/>
        </p:spPr>
        <p:txBody>
          <a:bodyPr wrap="none">
            <a:spAutoFit/>
          </a:bodyPr>
          <a:lstStyle/>
          <a:p>
            <a:pPr>
              <a:defRPr sz="1600" b="1">
                <a:solidFill>
                  <a:srgbClr val="F5F8FC"/>
                </a:solidFill>
                <a:latin typeface="Aptos"/>
              </a:defRPr>
            </a:pPr>
            <a:r>
              <a:t>Purpose</a:t>
            </a:r>
          </a:p>
        </p:txBody>
      </p:sp>
      <p:sp>
        <p:nvSpPr>
          <p:cNvPr id="11" name="TextBox 10"/>
          <p:cNvSpPr txBox="1"/>
          <p:nvPr/>
        </p:nvSpPr>
        <p:spPr>
          <a:xfrm>
            <a:off x="941832" y="2130552"/>
            <a:ext cx="2962656" cy="960120"/>
          </a:xfrm>
          <a:prstGeom prst="rect">
            <a:avLst/>
          </a:prstGeom>
          <a:noFill/>
        </p:spPr>
        <p:txBody>
          <a:bodyPr wrap="square">
            <a:spAutoFit/>
          </a:bodyPr>
          <a:lstStyle/>
          <a:p>
            <a:pPr>
              <a:spcAft>
                <a:spcPts val="500"/>
              </a:spcAft>
              <a:defRPr sz="1150">
                <a:solidFill>
                  <a:srgbClr val="A6B5C9"/>
                </a:solidFill>
                <a:latin typeface="Aptos"/>
              </a:defRPr>
            </a:pPr>
            <a:r>
              <a:t>Simulate common customer and administrator banking workflows while demonstrating core C# and database concepts.</a:t>
            </a:r>
          </a:p>
        </p:txBody>
      </p:sp>
      <p:sp>
        <p:nvSpPr>
          <p:cNvPr id="12" name="Rounded Rectangle 11"/>
          <p:cNvSpPr/>
          <p:nvPr/>
        </p:nvSpPr>
        <p:spPr>
          <a:xfrm>
            <a:off x="4370832" y="1417320"/>
            <a:ext cx="3474720" cy="18288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72000" y="1600200"/>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581912"/>
            <a:ext cx="411480" cy="411480"/>
          </a:xfrm>
          <a:prstGeom prst="rect">
            <a:avLst/>
          </a:prstGeom>
          <a:noFill/>
        </p:spPr>
        <p:txBody>
          <a:bodyPr wrap="none">
            <a:spAutoFit/>
          </a:bodyPr>
          <a:lstStyle/>
          <a:p>
            <a:pPr algn="ctr">
              <a:defRPr sz="1600" b="1">
                <a:solidFill>
                  <a:srgbClr val="081224"/>
                </a:solidFill>
              </a:defRPr>
            </a:pPr>
            <a:r>
              <a:t>02</a:t>
            </a:r>
          </a:p>
        </p:txBody>
      </p:sp>
      <p:sp>
        <p:nvSpPr>
          <p:cNvPr id="15" name="TextBox 14"/>
          <p:cNvSpPr txBox="1"/>
          <p:nvPr/>
        </p:nvSpPr>
        <p:spPr>
          <a:xfrm>
            <a:off x="5102352" y="1600200"/>
            <a:ext cx="2514600" cy="411480"/>
          </a:xfrm>
          <a:prstGeom prst="rect">
            <a:avLst/>
          </a:prstGeom>
          <a:noFill/>
        </p:spPr>
        <p:txBody>
          <a:bodyPr wrap="none">
            <a:spAutoFit/>
          </a:bodyPr>
          <a:lstStyle/>
          <a:p>
            <a:pPr>
              <a:defRPr sz="1600" b="1">
                <a:solidFill>
                  <a:srgbClr val="F5F8FC"/>
                </a:solidFill>
                <a:latin typeface="Aptos"/>
              </a:defRPr>
            </a:pPr>
            <a:r>
              <a:t>What I Built</a:t>
            </a:r>
          </a:p>
        </p:txBody>
      </p:sp>
      <p:sp>
        <p:nvSpPr>
          <p:cNvPr id="16" name="TextBox 15"/>
          <p:cNvSpPr txBox="1"/>
          <p:nvPr/>
        </p:nvSpPr>
        <p:spPr>
          <a:xfrm>
            <a:off x="4626864" y="2130552"/>
            <a:ext cx="2962656" cy="960120"/>
          </a:xfrm>
          <a:prstGeom prst="rect">
            <a:avLst/>
          </a:prstGeom>
          <a:noFill/>
        </p:spPr>
        <p:txBody>
          <a:bodyPr wrap="square">
            <a:spAutoFit/>
          </a:bodyPr>
          <a:lstStyle/>
          <a:p>
            <a:pPr>
              <a:spcAft>
                <a:spcPts val="500"/>
              </a:spcAft>
              <a:defRPr sz="1150">
                <a:solidFill>
                  <a:srgbClr val="A6B5C9"/>
                </a:solidFill>
                <a:latin typeface="Aptos"/>
              </a:defRPr>
            </a:pPr>
            <a:r>
              <a:t>Customer and Admin menus with account management, transactions, cheque requests, and password workflows.</a:t>
            </a:r>
          </a:p>
        </p:txBody>
      </p:sp>
      <p:sp>
        <p:nvSpPr>
          <p:cNvPr id="17" name="Rounded Rectangle 16"/>
          <p:cNvSpPr/>
          <p:nvPr/>
        </p:nvSpPr>
        <p:spPr>
          <a:xfrm>
            <a:off x="8055864" y="1417320"/>
            <a:ext cx="3474720" cy="18288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57032" y="1600200"/>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2" y="1581912"/>
            <a:ext cx="411480" cy="411480"/>
          </a:xfrm>
          <a:prstGeom prst="rect">
            <a:avLst/>
          </a:prstGeom>
          <a:noFill/>
        </p:spPr>
        <p:txBody>
          <a:bodyPr wrap="none">
            <a:spAutoFit/>
          </a:bodyPr>
          <a:lstStyle/>
          <a:p>
            <a:pPr algn="ctr">
              <a:defRPr sz="1600" b="1">
                <a:solidFill>
                  <a:srgbClr val="081224"/>
                </a:solidFill>
              </a:defRPr>
            </a:pPr>
            <a:r>
              <a:t>03</a:t>
            </a:r>
          </a:p>
        </p:txBody>
      </p:sp>
      <p:sp>
        <p:nvSpPr>
          <p:cNvPr id="20" name="TextBox 19"/>
          <p:cNvSpPr txBox="1"/>
          <p:nvPr/>
        </p:nvSpPr>
        <p:spPr>
          <a:xfrm>
            <a:off x="8787384" y="1600200"/>
            <a:ext cx="2514599" cy="411480"/>
          </a:xfrm>
          <a:prstGeom prst="rect">
            <a:avLst/>
          </a:prstGeom>
          <a:noFill/>
        </p:spPr>
        <p:txBody>
          <a:bodyPr wrap="none">
            <a:spAutoFit/>
          </a:bodyPr>
          <a:lstStyle/>
          <a:p>
            <a:pPr>
              <a:defRPr sz="1600" b="1">
                <a:solidFill>
                  <a:srgbClr val="F5F8FC"/>
                </a:solidFill>
                <a:latin typeface="Aptos"/>
              </a:defRPr>
            </a:pPr>
            <a:r>
              <a:t>What Changed</a:t>
            </a:r>
          </a:p>
        </p:txBody>
      </p:sp>
      <p:sp>
        <p:nvSpPr>
          <p:cNvPr id="21" name="TextBox 20"/>
          <p:cNvSpPr txBox="1"/>
          <p:nvPr/>
        </p:nvSpPr>
        <p:spPr>
          <a:xfrm>
            <a:off x="8311896" y="2130552"/>
            <a:ext cx="2962656" cy="960120"/>
          </a:xfrm>
          <a:prstGeom prst="rect">
            <a:avLst/>
          </a:prstGeom>
          <a:noFill/>
        </p:spPr>
        <p:txBody>
          <a:bodyPr wrap="square">
            <a:spAutoFit/>
          </a:bodyPr>
          <a:lstStyle/>
          <a:p>
            <a:pPr>
              <a:spcAft>
                <a:spcPts val="500"/>
              </a:spcAft>
              <a:defRPr sz="1150">
                <a:solidFill>
                  <a:srgbClr val="A6B5C9"/>
                </a:solidFill>
                <a:latin typeface="Aptos"/>
              </a:defRPr>
            </a:pPr>
            <a:r>
              <a:t>The project evolved from in-memory lists into an EF Core application backed by SQL Server.</a:t>
            </a:r>
          </a:p>
        </p:txBody>
      </p:sp>
      <p:sp>
        <p:nvSpPr>
          <p:cNvPr id="22" name="TextBox 21"/>
          <p:cNvSpPr txBox="1"/>
          <p:nvPr/>
        </p:nvSpPr>
        <p:spPr>
          <a:xfrm>
            <a:off x="914400" y="3886200"/>
            <a:ext cx="10241280" cy="1828800"/>
          </a:xfrm>
          <a:prstGeom prst="rect">
            <a:avLst/>
          </a:prstGeom>
          <a:noFill/>
        </p:spPr>
        <p:txBody>
          <a:bodyPr wrap="square">
            <a:spAutoFit/>
          </a:bodyPr>
          <a:lstStyle/>
          <a:p>
            <a:pPr>
              <a:spcAft>
                <a:spcPts val="1200"/>
              </a:spcAft>
              <a:defRPr sz="1700">
                <a:solidFill>
                  <a:srgbClr val="F5F8FC"/>
                </a:solidFill>
                <a:latin typeface="Aptos"/>
              </a:defRPr>
            </a:pPr>
            <a:r>
              <a:t>•  Designed around reusable classes and relationships</a:t>
            </a:r>
          </a:p>
          <a:p>
            <a:pPr>
              <a:spcAft>
                <a:spcPts val="1200"/>
              </a:spcAft>
              <a:defRPr sz="1700">
                <a:solidFill>
                  <a:srgbClr val="F5F8FC"/>
                </a:solidFill>
                <a:latin typeface="Aptos"/>
              </a:defRPr>
            </a:pPr>
            <a:r>
              <a:t>•  Data survives application restarts</a:t>
            </a:r>
          </a:p>
          <a:p>
            <a:pPr>
              <a:spcAft>
                <a:spcPts val="1200"/>
              </a:spcAft>
              <a:defRPr sz="1700">
                <a:solidFill>
                  <a:srgbClr val="F5F8FC"/>
                </a:solidFill>
                <a:latin typeface="Aptos"/>
              </a:defRPr>
            </a:pPr>
            <a:r>
              <a:t>•  Business actions update both C# objects and SQL Server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What Problems Does It Solve?</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A training simulation of common banking workflow needs</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03</a:t>
            </a:r>
          </a:p>
        </p:txBody>
      </p:sp>
      <p:sp>
        <p:nvSpPr>
          <p:cNvPr id="7" name="Rounded Rectangle 6"/>
          <p:cNvSpPr/>
          <p:nvPr/>
        </p:nvSpPr>
        <p:spPr>
          <a:xfrm>
            <a:off x="731520" y="1463040"/>
            <a:ext cx="3383280" cy="150876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164592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627632"/>
            <a:ext cx="411480" cy="411480"/>
          </a:xfrm>
          <a:prstGeom prst="rect">
            <a:avLst/>
          </a:prstGeom>
          <a:noFill/>
        </p:spPr>
        <p:txBody>
          <a:bodyPr wrap="none">
            <a:spAutoFit/>
          </a:bodyPr>
          <a:lstStyle/>
          <a:p>
            <a:pPr algn="ctr">
              <a:defRPr sz="1600" b="1">
                <a:solidFill>
                  <a:srgbClr val="081224"/>
                </a:solidFill>
              </a:defRPr>
            </a:pPr>
            <a:r>
              <a:t>A</a:t>
            </a:r>
          </a:p>
        </p:txBody>
      </p:sp>
      <p:sp>
        <p:nvSpPr>
          <p:cNvPr id="10" name="TextBox 9"/>
          <p:cNvSpPr txBox="1"/>
          <p:nvPr/>
        </p:nvSpPr>
        <p:spPr>
          <a:xfrm>
            <a:off x="1463040" y="1645920"/>
            <a:ext cx="2423160" cy="411480"/>
          </a:xfrm>
          <a:prstGeom prst="rect">
            <a:avLst/>
          </a:prstGeom>
          <a:noFill/>
        </p:spPr>
        <p:txBody>
          <a:bodyPr wrap="none">
            <a:spAutoFit/>
          </a:bodyPr>
          <a:lstStyle/>
          <a:p>
            <a:pPr>
              <a:defRPr sz="1600" b="1">
                <a:solidFill>
                  <a:srgbClr val="F5F8FC"/>
                </a:solidFill>
                <a:latin typeface="Aptos"/>
              </a:defRPr>
            </a:pPr>
            <a:r>
              <a:t>Account Management</a:t>
            </a:r>
          </a:p>
        </p:txBody>
      </p:sp>
      <p:sp>
        <p:nvSpPr>
          <p:cNvPr id="11" name="TextBox 10"/>
          <p:cNvSpPr txBox="1"/>
          <p:nvPr/>
        </p:nvSpPr>
        <p:spPr>
          <a:xfrm>
            <a:off x="987552" y="2176272"/>
            <a:ext cx="2871216" cy="640080"/>
          </a:xfrm>
          <a:prstGeom prst="rect">
            <a:avLst/>
          </a:prstGeom>
          <a:noFill/>
        </p:spPr>
        <p:txBody>
          <a:bodyPr wrap="square">
            <a:spAutoFit/>
          </a:bodyPr>
          <a:lstStyle/>
          <a:p>
            <a:pPr>
              <a:spcAft>
                <a:spcPts val="500"/>
              </a:spcAft>
              <a:defRPr sz="1150">
                <a:solidFill>
                  <a:srgbClr val="A6B5C9"/>
                </a:solidFill>
                <a:latin typeface="Aptos"/>
              </a:defRPr>
            </a:pPr>
            <a:r>
              <a:t>Create, view, edit, activate/deactivate, and delete customer accounts.</a:t>
            </a:r>
          </a:p>
        </p:txBody>
      </p:sp>
      <p:sp>
        <p:nvSpPr>
          <p:cNvPr id="12" name="Rounded Rectangle 11"/>
          <p:cNvSpPr/>
          <p:nvPr/>
        </p:nvSpPr>
        <p:spPr>
          <a:xfrm>
            <a:off x="4389120" y="1463040"/>
            <a:ext cx="3383280" cy="150876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90288" y="1645920"/>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1627632"/>
            <a:ext cx="411480" cy="411480"/>
          </a:xfrm>
          <a:prstGeom prst="rect">
            <a:avLst/>
          </a:prstGeom>
          <a:noFill/>
        </p:spPr>
        <p:txBody>
          <a:bodyPr wrap="none">
            <a:spAutoFit/>
          </a:bodyPr>
          <a:lstStyle/>
          <a:p>
            <a:pPr algn="ctr">
              <a:defRPr sz="1600" b="1">
                <a:solidFill>
                  <a:srgbClr val="081224"/>
                </a:solidFill>
              </a:defRPr>
            </a:pPr>
            <a:r>
              <a:t>$</a:t>
            </a:r>
          </a:p>
        </p:txBody>
      </p:sp>
      <p:sp>
        <p:nvSpPr>
          <p:cNvPr id="15" name="TextBox 14"/>
          <p:cNvSpPr txBox="1"/>
          <p:nvPr/>
        </p:nvSpPr>
        <p:spPr>
          <a:xfrm>
            <a:off x="5120640" y="1645920"/>
            <a:ext cx="2423160" cy="411480"/>
          </a:xfrm>
          <a:prstGeom prst="rect">
            <a:avLst/>
          </a:prstGeom>
          <a:noFill/>
        </p:spPr>
        <p:txBody>
          <a:bodyPr wrap="none">
            <a:spAutoFit/>
          </a:bodyPr>
          <a:lstStyle/>
          <a:p>
            <a:pPr>
              <a:defRPr sz="1600" b="1">
                <a:solidFill>
                  <a:srgbClr val="F5F8FC"/>
                </a:solidFill>
                <a:latin typeface="Aptos"/>
              </a:defRPr>
            </a:pPr>
            <a:r>
              <a:t>Money Movement</a:t>
            </a:r>
          </a:p>
        </p:txBody>
      </p:sp>
      <p:sp>
        <p:nvSpPr>
          <p:cNvPr id="16" name="TextBox 15"/>
          <p:cNvSpPr txBox="1"/>
          <p:nvPr/>
        </p:nvSpPr>
        <p:spPr>
          <a:xfrm>
            <a:off x="4645152" y="2176272"/>
            <a:ext cx="2871216" cy="640080"/>
          </a:xfrm>
          <a:prstGeom prst="rect">
            <a:avLst/>
          </a:prstGeom>
          <a:noFill/>
        </p:spPr>
        <p:txBody>
          <a:bodyPr wrap="square">
            <a:spAutoFit/>
          </a:bodyPr>
          <a:lstStyle/>
          <a:p>
            <a:pPr>
              <a:spcAft>
                <a:spcPts val="500"/>
              </a:spcAft>
              <a:defRPr sz="1150">
                <a:solidFill>
                  <a:srgbClr val="A6B5C9"/>
                </a:solidFill>
                <a:latin typeface="Aptos"/>
              </a:defRPr>
            </a:pPr>
            <a:r>
              <a:t>Deposit, withdraw, and transfer funds with validation and persistent balances.</a:t>
            </a:r>
          </a:p>
        </p:txBody>
      </p:sp>
      <p:sp>
        <p:nvSpPr>
          <p:cNvPr id="17" name="Rounded Rectangle 16"/>
          <p:cNvSpPr/>
          <p:nvPr/>
        </p:nvSpPr>
        <p:spPr>
          <a:xfrm>
            <a:off x="8046720" y="1463040"/>
            <a:ext cx="3383280" cy="150876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7888" y="1645920"/>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1627632"/>
            <a:ext cx="411480" cy="411480"/>
          </a:xfrm>
          <a:prstGeom prst="rect">
            <a:avLst/>
          </a:prstGeom>
          <a:noFill/>
        </p:spPr>
        <p:txBody>
          <a:bodyPr wrap="none">
            <a:spAutoFit/>
          </a:bodyPr>
          <a:lstStyle/>
          <a:p>
            <a:pPr algn="ctr">
              <a:defRPr sz="1600" b="1">
                <a:solidFill>
                  <a:srgbClr val="081224"/>
                </a:solidFill>
              </a:defRPr>
            </a:pPr>
            <a:r>
              <a:t>H</a:t>
            </a:r>
          </a:p>
        </p:txBody>
      </p:sp>
      <p:sp>
        <p:nvSpPr>
          <p:cNvPr id="20" name="TextBox 19"/>
          <p:cNvSpPr txBox="1"/>
          <p:nvPr/>
        </p:nvSpPr>
        <p:spPr>
          <a:xfrm>
            <a:off x="8778240" y="1645920"/>
            <a:ext cx="2423159" cy="411480"/>
          </a:xfrm>
          <a:prstGeom prst="rect">
            <a:avLst/>
          </a:prstGeom>
          <a:noFill/>
        </p:spPr>
        <p:txBody>
          <a:bodyPr wrap="none">
            <a:spAutoFit/>
          </a:bodyPr>
          <a:lstStyle/>
          <a:p>
            <a:pPr>
              <a:defRPr sz="1600" b="1">
                <a:solidFill>
                  <a:srgbClr val="F5F8FC"/>
                </a:solidFill>
                <a:latin typeface="Aptos"/>
              </a:defRPr>
            </a:pPr>
            <a:r>
              <a:t>History &amp; Requests</a:t>
            </a:r>
          </a:p>
        </p:txBody>
      </p:sp>
      <p:sp>
        <p:nvSpPr>
          <p:cNvPr id="21" name="TextBox 20"/>
          <p:cNvSpPr txBox="1"/>
          <p:nvPr/>
        </p:nvSpPr>
        <p:spPr>
          <a:xfrm>
            <a:off x="8302752" y="2176272"/>
            <a:ext cx="2871216" cy="640080"/>
          </a:xfrm>
          <a:prstGeom prst="rect">
            <a:avLst/>
          </a:prstGeom>
          <a:noFill/>
        </p:spPr>
        <p:txBody>
          <a:bodyPr wrap="square">
            <a:spAutoFit/>
          </a:bodyPr>
          <a:lstStyle/>
          <a:p>
            <a:pPr>
              <a:spcAft>
                <a:spcPts val="500"/>
              </a:spcAft>
              <a:defRPr sz="1150">
                <a:solidFill>
                  <a:srgbClr val="A6B5C9"/>
                </a:solidFill>
                <a:latin typeface="Aptos"/>
              </a:defRPr>
            </a:pPr>
            <a:r>
              <a:t>Store transaction history and manage cheque-book requests through approval states.</a:t>
            </a:r>
          </a:p>
        </p:txBody>
      </p:sp>
      <p:sp>
        <p:nvSpPr>
          <p:cNvPr id="22" name="Rounded Rectangle 21"/>
          <p:cNvSpPr/>
          <p:nvPr/>
        </p:nvSpPr>
        <p:spPr>
          <a:xfrm>
            <a:off x="1828800" y="3337560"/>
            <a:ext cx="3931920" cy="15544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029968" y="352044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29968" y="3502152"/>
            <a:ext cx="411480" cy="411480"/>
          </a:xfrm>
          <a:prstGeom prst="rect">
            <a:avLst/>
          </a:prstGeom>
          <a:noFill/>
        </p:spPr>
        <p:txBody>
          <a:bodyPr wrap="none">
            <a:spAutoFit/>
          </a:bodyPr>
          <a:lstStyle/>
          <a:p>
            <a:pPr algn="ctr">
              <a:defRPr sz="1600" b="1">
                <a:solidFill>
                  <a:srgbClr val="081224"/>
                </a:solidFill>
              </a:defRPr>
            </a:pPr>
            <a:r>
              <a:t>S</a:t>
            </a:r>
          </a:p>
        </p:txBody>
      </p:sp>
      <p:sp>
        <p:nvSpPr>
          <p:cNvPr id="25" name="TextBox 24"/>
          <p:cNvSpPr txBox="1"/>
          <p:nvPr/>
        </p:nvSpPr>
        <p:spPr>
          <a:xfrm>
            <a:off x="2560320" y="3520440"/>
            <a:ext cx="2971800" cy="411480"/>
          </a:xfrm>
          <a:prstGeom prst="rect">
            <a:avLst/>
          </a:prstGeom>
          <a:noFill/>
        </p:spPr>
        <p:txBody>
          <a:bodyPr wrap="none">
            <a:spAutoFit/>
          </a:bodyPr>
          <a:lstStyle/>
          <a:p>
            <a:pPr>
              <a:defRPr sz="1600" b="1">
                <a:solidFill>
                  <a:srgbClr val="F5F8FC"/>
                </a:solidFill>
                <a:latin typeface="Aptos"/>
              </a:defRPr>
            </a:pPr>
            <a:r>
              <a:t>Authentication Workflow</a:t>
            </a:r>
          </a:p>
        </p:txBody>
      </p:sp>
      <p:sp>
        <p:nvSpPr>
          <p:cNvPr id="26" name="TextBox 25"/>
          <p:cNvSpPr txBox="1"/>
          <p:nvPr/>
        </p:nvSpPr>
        <p:spPr>
          <a:xfrm>
            <a:off x="2084832" y="4050791"/>
            <a:ext cx="3419856" cy="685800"/>
          </a:xfrm>
          <a:prstGeom prst="rect">
            <a:avLst/>
          </a:prstGeom>
          <a:noFill/>
        </p:spPr>
        <p:txBody>
          <a:bodyPr wrap="square">
            <a:spAutoFit/>
          </a:bodyPr>
          <a:lstStyle/>
          <a:p>
            <a:pPr>
              <a:spcAft>
                <a:spcPts val="500"/>
              </a:spcAft>
              <a:defRPr sz="1150">
                <a:solidFill>
                  <a:srgbClr val="A6B5C9"/>
                </a:solidFill>
                <a:latin typeface="Aptos"/>
              </a:defRPr>
            </a:pPr>
            <a:r>
              <a:t>Customer login plus an Admin-triggered temporary-password reset and forced password change.</a:t>
            </a:r>
          </a:p>
        </p:txBody>
      </p:sp>
      <p:sp>
        <p:nvSpPr>
          <p:cNvPr id="27" name="Rounded Rectangle 26"/>
          <p:cNvSpPr/>
          <p:nvPr/>
        </p:nvSpPr>
        <p:spPr>
          <a:xfrm>
            <a:off x="6400800" y="3337560"/>
            <a:ext cx="3931920" cy="15544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01968" y="3520440"/>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1968" y="3502152"/>
            <a:ext cx="411480" cy="411480"/>
          </a:xfrm>
          <a:prstGeom prst="rect">
            <a:avLst/>
          </a:prstGeom>
          <a:noFill/>
        </p:spPr>
        <p:txBody>
          <a:bodyPr wrap="none">
            <a:spAutoFit/>
          </a:bodyPr>
          <a:lstStyle/>
          <a:p>
            <a:pPr algn="ctr">
              <a:defRPr sz="1600" b="1">
                <a:solidFill>
                  <a:srgbClr val="081224"/>
                </a:solidFill>
              </a:defRPr>
            </a:pPr>
            <a:r>
              <a:t>DB</a:t>
            </a:r>
          </a:p>
        </p:txBody>
      </p:sp>
      <p:sp>
        <p:nvSpPr>
          <p:cNvPr id="30" name="TextBox 29"/>
          <p:cNvSpPr txBox="1"/>
          <p:nvPr/>
        </p:nvSpPr>
        <p:spPr>
          <a:xfrm>
            <a:off x="7132320" y="3520440"/>
            <a:ext cx="2971800" cy="411480"/>
          </a:xfrm>
          <a:prstGeom prst="rect">
            <a:avLst/>
          </a:prstGeom>
          <a:noFill/>
        </p:spPr>
        <p:txBody>
          <a:bodyPr wrap="none">
            <a:spAutoFit/>
          </a:bodyPr>
          <a:lstStyle/>
          <a:p>
            <a:pPr>
              <a:defRPr sz="1600" b="1">
                <a:solidFill>
                  <a:srgbClr val="F5F8FC"/>
                </a:solidFill>
                <a:latin typeface="Aptos"/>
              </a:defRPr>
            </a:pPr>
            <a:r>
              <a:t>Persistence</a:t>
            </a:r>
          </a:p>
        </p:txBody>
      </p:sp>
      <p:sp>
        <p:nvSpPr>
          <p:cNvPr id="31" name="TextBox 30"/>
          <p:cNvSpPr txBox="1"/>
          <p:nvPr/>
        </p:nvSpPr>
        <p:spPr>
          <a:xfrm>
            <a:off x="6656832" y="4050791"/>
            <a:ext cx="3419856" cy="685800"/>
          </a:xfrm>
          <a:prstGeom prst="rect">
            <a:avLst/>
          </a:prstGeom>
          <a:noFill/>
        </p:spPr>
        <p:txBody>
          <a:bodyPr wrap="square">
            <a:spAutoFit/>
          </a:bodyPr>
          <a:lstStyle/>
          <a:p>
            <a:pPr>
              <a:spcAft>
                <a:spcPts val="500"/>
              </a:spcAft>
              <a:defRPr sz="1150">
                <a:solidFill>
                  <a:srgbClr val="A6B5C9"/>
                </a:solidFill>
                <a:latin typeface="Aptos"/>
              </a:defRPr>
            </a:pPr>
            <a:r>
              <a:t>Replace temporary in-memory state with SQL Server records managed by Entity Framework Core.</a:t>
            </a:r>
          </a:p>
        </p:txBody>
      </p:sp>
      <p:sp>
        <p:nvSpPr>
          <p:cNvPr id="32" name="TextBox 31"/>
          <p:cNvSpPr txBox="1"/>
          <p:nvPr/>
        </p:nvSpPr>
        <p:spPr>
          <a:xfrm>
            <a:off x="1920240" y="5577840"/>
            <a:ext cx="8412480" cy="502920"/>
          </a:xfrm>
          <a:prstGeom prst="rect">
            <a:avLst/>
          </a:prstGeom>
          <a:noFill/>
        </p:spPr>
        <p:txBody>
          <a:bodyPr wrap="none">
            <a:spAutoFit/>
          </a:bodyPr>
          <a:lstStyle/>
          <a:p>
            <a:pPr algn="ctr">
              <a:defRPr sz="1400" i="1">
                <a:solidFill>
                  <a:srgbClr val="A6B5C9"/>
                </a:solidFill>
              </a:defRPr>
            </a:pPr>
            <a:r>
              <a:t>The project focuses on workflow, data integrity, and persistence—not production banking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Customer Experience</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Core actions available after authentication</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04</a:t>
            </a:r>
          </a:p>
        </p:txBody>
      </p:sp>
      <p:sp>
        <p:nvSpPr>
          <p:cNvPr id="7" name="Rounded Rectangle 6"/>
          <p:cNvSpPr/>
          <p:nvPr/>
        </p:nvSpPr>
        <p:spPr>
          <a:xfrm>
            <a:off x="685800" y="1325880"/>
            <a:ext cx="4663440" cy="4526280"/>
          </a:xfrm>
          <a:prstGeom prst="roundRect">
            <a:avLst/>
          </a:prstGeom>
          <a:solidFill>
            <a:srgbClr val="04080F"/>
          </a:solidFill>
          <a:ln>
            <a:solidFill>
              <a:srgbClr val="364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25880"/>
            <a:ext cx="4663440" cy="347472"/>
          </a:xfrm>
          <a:prstGeom prst="rect">
            <a:avLst/>
          </a:prstGeom>
          <a:solidFill>
            <a:srgbClr val="1A1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2104" y="1435607"/>
            <a:ext cx="91440" cy="91440"/>
          </a:xfrm>
          <a:prstGeom prst="ellipse">
            <a:avLst/>
          </a:prstGeom>
          <a:solidFill>
            <a:srgbClr val="F563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42416" y="1435607"/>
            <a:ext cx="91440" cy="9144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52728" y="1435607"/>
            <a:ext cx="91440" cy="9144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1389888"/>
            <a:ext cx="3749039" cy="201168"/>
          </a:xfrm>
          <a:prstGeom prst="rect">
            <a:avLst/>
          </a:prstGeom>
          <a:noFill/>
        </p:spPr>
        <p:txBody>
          <a:bodyPr wrap="none">
            <a:spAutoFit/>
          </a:bodyPr>
          <a:lstStyle/>
          <a:p>
            <a:pPr>
              <a:defRPr sz="900">
                <a:solidFill>
                  <a:srgbClr val="A6B5C9"/>
                </a:solidFill>
                <a:latin typeface="Consolas"/>
              </a:defRPr>
            </a:pPr>
            <a:r>
              <a:t>FIGGY BANK // CONSOLE</a:t>
            </a:r>
          </a:p>
        </p:txBody>
      </p:sp>
      <p:sp>
        <p:nvSpPr>
          <p:cNvPr id="13" name="TextBox 12"/>
          <p:cNvSpPr txBox="1"/>
          <p:nvPr/>
        </p:nvSpPr>
        <p:spPr>
          <a:xfrm>
            <a:off x="941832" y="1828800"/>
            <a:ext cx="4160520" cy="3867912"/>
          </a:xfrm>
          <a:prstGeom prst="rect">
            <a:avLst/>
          </a:prstGeom>
          <a:noFill/>
        </p:spPr>
        <p:txBody>
          <a:bodyPr wrap="square">
            <a:spAutoFit/>
          </a:bodyPr>
          <a:lstStyle/>
          <a:p>
            <a:pPr>
              <a:spcAft>
                <a:spcPts val="300"/>
              </a:spcAft>
              <a:defRPr sz="1100">
                <a:solidFill>
                  <a:srgbClr val="F5F8FC"/>
                </a:solidFill>
                <a:latin typeface="Consolas"/>
              </a:defRPr>
            </a:pPr>
            <a:r>
              <a:t>---------- CUSTOMER MENU ----------</a:t>
            </a:r>
          </a:p>
          <a:p>
            <a:pPr>
              <a:spcAft>
                <a:spcPts val="300"/>
              </a:spcAft>
              <a:defRPr sz="1100">
                <a:solidFill>
                  <a:srgbClr val="F5F8FC"/>
                </a:solidFill>
                <a:latin typeface="Consolas"/>
              </a:defRPr>
            </a:pPr>
            <a:r>
              <a:t>1. Check Account Details</a:t>
            </a:r>
          </a:p>
          <a:p>
            <a:pPr>
              <a:spcAft>
                <a:spcPts val="300"/>
              </a:spcAft>
              <a:defRPr sz="1100">
                <a:solidFill>
                  <a:srgbClr val="F5F8FC"/>
                </a:solidFill>
                <a:latin typeface="Consolas"/>
              </a:defRPr>
            </a:pPr>
            <a:r>
              <a:t>2. Withdraw</a:t>
            </a:r>
          </a:p>
          <a:p>
            <a:pPr>
              <a:spcAft>
                <a:spcPts val="300"/>
              </a:spcAft>
              <a:defRPr sz="1100">
                <a:solidFill>
                  <a:srgbClr val="F5F8FC"/>
                </a:solidFill>
                <a:latin typeface="Consolas"/>
              </a:defRPr>
            </a:pPr>
            <a:r>
              <a:t>3. Deposit</a:t>
            </a:r>
          </a:p>
          <a:p>
            <a:pPr>
              <a:spcAft>
                <a:spcPts val="300"/>
              </a:spcAft>
              <a:defRPr sz="1100">
                <a:solidFill>
                  <a:srgbClr val="F5F8FC"/>
                </a:solidFill>
                <a:latin typeface="Consolas"/>
              </a:defRPr>
            </a:pPr>
            <a:r>
              <a:t>4. Transfer</a:t>
            </a:r>
          </a:p>
          <a:p>
            <a:pPr>
              <a:spcAft>
                <a:spcPts val="300"/>
              </a:spcAft>
              <a:defRPr sz="1100">
                <a:solidFill>
                  <a:srgbClr val="F5F8FC"/>
                </a:solidFill>
                <a:latin typeface="Consolas"/>
              </a:defRPr>
            </a:pPr>
            <a:r>
              <a:t>5. Last 5 Transactions</a:t>
            </a:r>
          </a:p>
          <a:p>
            <a:pPr>
              <a:spcAft>
                <a:spcPts val="300"/>
              </a:spcAft>
              <a:defRPr sz="1100">
                <a:solidFill>
                  <a:srgbClr val="F5F8FC"/>
                </a:solidFill>
                <a:latin typeface="Consolas"/>
              </a:defRPr>
            </a:pPr>
            <a:r>
              <a:t>6. Request Cheque Book</a:t>
            </a:r>
          </a:p>
          <a:p>
            <a:pPr>
              <a:spcAft>
                <a:spcPts val="300"/>
              </a:spcAft>
              <a:defRPr sz="1100">
                <a:solidFill>
                  <a:srgbClr val="F5F8FC"/>
                </a:solidFill>
                <a:latin typeface="Consolas"/>
              </a:defRPr>
            </a:pPr>
            <a:r>
              <a:t>7. Change Password</a:t>
            </a:r>
          </a:p>
          <a:p>
            <a:pPr>
              <a:spcAft>
                <a:spcPts val="300"/>
              </a:spcAft>
              <a:defRPr sz="1100">
                <a:solidFill>
                  <a:srgbClr val="F5F8FC"/>
                </a:solidFill>
                <a:latin typeface="Consolas"/>
              </a:defRPr>
            </a:pPr>
            <a:r>
              <a:t>8. Main Menu</a:t>
            </a:r>
          </a:p>
        </p:txBody>
      </p:sp>
      <p:sp>
        <p:nvSpPr>
          <p:cNvPr id="14" name="TextBox 13"/>
          <p:cNvSpPr txBox="1"/>
          <p:nvPr/>
        </p:nvSpPr>
        <p:spPr>
          <a:xfrm>
            <a:off x="5806440" y="1508760"/>
            <a:ext cx="5394960" cy="4389120"/>
          </a:xfrm>
          <a:prstGeom prst="rect">
            <a:avLst/>
          </a:prstGeom>
          <a:noFill/>
        </p:spPr>
        <p:txBody>
          <a:bodyPr wrap="square">
            <a:spAutoFit/>
          </a:bodyPr>
          <a:lstStyle/>
          <a:p>
            <a:pPr>
              <a:spcAft>
                <a:spcPts val="1200"/>
              </a:spcAft>
              <a:defRPr sz="1600">
                <a:solidFill>
                  <a:srgbClr val="F5F8FC"/>
                </a:solidFill>
                <a:latin typeface="Aptos"/>
              </a:defRPr>
            </a:pPr>
            <a:r>
              <a:t>•  Account balances update through EF Core</a:t>
            </a:r>
          </a:p>
          <a:p>
            <a:pPr>
              <a:spcAft>
                <a:spcPts val="1200"/>
              </a:spcAft>
              <a:defRPr sz="1600">
                <a:solidFill>
                  <a:srgbClr val="F5F8FC"/>
                </a:solidFill>
                <a:latin typeface="Aptos"/>
              </a:defRPr>
            </a:pPr>
            <a:r>
              <a:t>•  Withdrawals and deposits create transaction records</a:t>
            </a:r>
          </a:p>
          <a:p>
            <a:pPr>
              <a:spcAft>
                <a:spcPts val="1200"/>
              </a:spcAft>
              <a:defRPr sz="1600">
                <a:solidFill>
                  <a:srgbClr val="F5F8FC"/>
                </a:solidFill>
                <a:latin typeface="Aptos"/>
              </a:defRPr>
            </a:pPr>
            <a:r>
              <a:t>•  Transfers update source + destination accounts</a:t>
            </a:r>
          </a:p>
          <a:p>
            <a:pPr>
              <a:spcAft>
                <a:spcPts val="1200"/>
              </a:spcAft>
              <a:defRPr sz="1600">
                <a:solidFill>
                  <a:srgbClr val="F5F8FC"/>
                </a:solidFill>
                <a:latin typeface="Aptos"/>
              </a:defRPr>
            </a:pPr>
            <a:r>
              <a:t>•  Last five transactions are loaded from persisted data</a:t>
            </a:r>
          </a:p>
          <a:p>
            <a:pPr>
              <a:spcAft>
                <a:spcPts val="1200"/>
              </a:spcAft>
              <a:defRPr sz="1600">
                <a:solidFill>
                  <a:srgbClr val="F5F8FC"/>
                </a:solidFill>
                <a:latin typeface="Aptos"/>
              </a:defRPr>
            </a:pPr>
            <a:r>
              <a:t>•  Duplicate pending cheque requests are prevented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Administrator Experience</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Account administration and request management</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05</a:t>
            </a:r>
          </a:p>
        </p:txBody>
      </p:sp>
      <p:sp>
        <p:nvSpPr>
          <p:cNvPr id="7" name="Rounded Rectangle 6"/>
          <p:cNvSpPr/>
          <p:nvPr/>
        </p:nvSpPr>
        <p:spPr>
          <a:xfrm>
            <a:off x="685800" y="1325880"/>
            <a:ext cx="4663440" cy="4297680"/>
          </a:xfrm>
          <a:prstGeom prst="roundRect">
            <a:avLst/>
          </a:prstGeom>
          <a:solidFill>
            <a:srgbClr val="04080F"/>
          </a:solidFill>
          <a:ln>
            <a:solidFill>
              <a:srgbClr val="364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25880"/>
            <a:ext cx="4663440" cy="347472"/>
          </a:xfrm>
          <a:prstGeom prst="rect">
            <a:avLst/>
          </a:prstGeom>
          <a:solidFill>
            <a:srgbClr val="1A1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2104" y="1435607"/>
            <a:ext cx="91440" cy="91440"/>
          </a:xfrm>
          <a:prstGeom prst="ellipse">
            <a:avLst/>
          </a:prstGeom>
          <a:solidFill>
            <a:srgbClr val="F563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42416" y="1435607"/>
            <a:ext cx="91440" cy="9144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52728" y="1435607"/>
            <a:ext cx="91440" cy="9144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1389888"/>
            <a:ext cx="3749039" cy="201168"/>
          </a:xfrm>
          <a:prstGeom prst="rect">
            <a:avLst/>
          </a:prstGeom>
          <a:noFill/>
        </p:spPr>
        <p:txBody>
          <a:bodyPr wrap="none">
            <a:spAutoFit/>
          </a:bodyPr>
          <a:lstStyle/>
          <a:p>
            <a:pPr>
              <a:defRPr sz="900">
                <a:solidFill>
                  <a:srgbClr val="A6B5C9"/>
                </a:solidFill>
                <a:latin typeface="Consolas"/>
              </a:defRPr>
            </a:pPr>
            <a:r>
              <a:t>FIGGY BANK // CONSOLE</a:t>
            </a:r>
          </a:p>
        </p:txBody>
      </p:sp>
      <p:sp>
        <p:nvSpPr>
          <p:cNvPr id="13" name="TextBox 12"/>
          <p:cNvSpPr txBox="1"/>
          <p:nvPr/>
        </p:nvSpPr>
        <p:spPr>
          <a:xfrm>
            <a:off x="941832" y="1828800"/>
            <a:ext cx="4160520" cy="3639312"/>
          </a:xfrm>
          <a:prstGeom prst="rect">
            <a:avLst/>
          </a:prstGeom>
          <a:noFill/>
        </p:spPr>
        <p:txBody>
          <a:bodyPr wrap="square">
            <a:spAutoFit/>
          </a:bodyPr>
          <a:lstStyle/>
          <a:p>
            <a:pPr>
              <a:spcAft>
                <a:spcPts val="300"/>
              </a:spcAft>
              <a:defRPr sz="1100">
                <a:solidFill>
                  <a:srgbClr val="F5F8FC"/>
                </a:solidFill>
                <a:latin typeface="Consolas"/>
              </a:defRPr>
            </a:pPr>
            <a:r>
              <a:t>---------- ADMIN MENU ----------</a:t>
            </a:r>
          </a:p>
          <a:p>
            <a:pPr>
              <a:spcAft>
                <a:spcPts val="300"/>
              </a:spcAft>
              <a:defRPr sz="1100">
                <a:solidFill>
                  <a:srgbClr val="F5F8FC"/>
                </a:solidFill>
                <a:latin typeface="Consolas"/>
              </a:defRPr>
            </a:pPr>
            <a:r>
              <a:t>1. Create New Account</a:t>
            </a:r>
          </a:p>
          <a:p>
            <a:pPr>
              <a:spcAft>
                <a:spcPts val="300"/>
              </a:spcAft>
              <a:defRPr sz="1100">
                <a:solidFill>
                  <a:srgbClr val="F5F8FC"/>
                </a:solidFill>
                <a:latin typeface="Consolas"/>
              </a:defRPr>
            </a:pPr>
            <a:r>
              <a:t>2. Delete Account</a:t>
            </a:r>
          </a:p>
          <a:p>
            <a:pPr>
              <a:spcAft>
                <a:spcPts val="300"/>
              </a:spcAft>
              <a:defRPr sz="1100">
                <a:solidFill>
                  <a:srgbClr val="F5F8FC"/>
                </a:solidFill>
                <a:latin typeface="Consolas"/>
              </a:defRPr>
            </a:pPr>
            <a:r>
              <a:t>3. Edit Account Details</a:t>
            </a:r>
          </a:p>
          <a:p>
            <a:pPr>
              <a:spcAft>
                <a:spcPts val="300"/>
              </a:spcAft>
              <a:defRPr sz="1100">
                <a:solidFill>
                  <a:srgbClr val="F5F8FC"/>
                </a:solidFill>
                <a:latin typeface="Consolas"/>
              </a:defRPr>
            </a:pPr>
            <a:r>
              <a:t>4. Display Summary</a:t>
            </a:r>
          </a:p>
          <a:p>
            <a:pPr>
              <a:spcAft>
                <a:spcPts val="300"/>
              </a:spcAft>
              <a:defRPr sz="1100">
                <a:solidFill>
                  <a:srgbClr val="F5F8FC"/>
                </a:solidFill>
                <a:latin typeface="Consolas"/>
              </a:defRPr>
            </a:pPr>
            <a:r>
              <a:t>5. Reset Customer Password</a:t>
            </a:r>
          </a:p>
          <a:p>
            <a:pPr>
              <a:spcAft>
                <a:spcPts val="300"/>
              </a:spcAft>
              <a:defRPr sz="1100">
                <a:solidFill>
                  <a:srgbClr val="F5F8FC"/>
                </a:solidFill>
                <a:latin typeface="Consolas"/>
              </a:defRPr>
            </a:pPr>
            <a:r>
              <a:t>6. Approve Cheque Book Request</a:t>
            </a:r>
          </a:p>
          <a:p>
            <a:pPr>
              <a:spcAft>
                <a:spcPts val="300"/>
              </a:spcAft>
              <a:defRPr sz="1100">
                <a:solidFill>
                  <a:srgbClr val="F5F8FC"/>
                </a:solidFill>
                <a:latin typeface="Consolas"/>
              </a:defRPr>
            </a:pPr>
            <a:r>
              <a:t>7. Main Menu</a:t>
            </a:r>
          </a:p>
        </p:txBody>
      </p:sp>
      <p:sp>
        <p:nvSpPr>
          <p:cNvPr id="14" name="Rounded Rectangle 13"/>
          <p:cNvSpPr/>
          <p:nvPr/>
        </p:nvSpPr>
        <p:spPr>
          <a:xfrm>
            <a:off x="5715000" y="1417320"/>
            <a:ext cx="2606040" cy="13258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16168" y="160020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16168" y="1581912"/>
            <a:ext cx="411480" cy="411480"/>
          </a:xfrm>
          <a:prstGeom prst="rect">
            <a:avLst/>
          </a:prstGeom>
          <a:noFill/>
        </p:spPr>
        <p:txBody>
          <a:bodyPr wrap="none">
            <a:spAutoFit/>
          </a:bodyPr>
          <a:lstStyle/>
          <a:p>
            <a:pPr algn="ctr">
              <a:defRPr sz="1600" b="1">
                <a:solidFill>
                  <a:srgbClr val="081224"/>
                </a:solidFill>
              </a:defRPr>
            </a:pPr>
            <a:r>
              <a:t>C</a:t>
            </a:r>
          </a:p>
        </p:txBody>
      </p:sp>
      <p:sp>
        <p:nvSpPr>
          <p:cNvPr id="17" name="TextBox 16"/>
          <p:cNvSpPr txBox="1"/>
          <p:nvPr/>
        </p:nvSpPr>
        <p:spPr>
          <a:xfrm>
            <a:off x="6446520" y="1600200"/>
            <a:ext cx="1645920" cy="411480"/>
          </a:xfrm>
          <a:prstGeom prst="rect">
            <a:avLst/>
          </a:prstGeom>
          <a:noFill/>
        </p:spPr>
        <p:txBody>
          <a:bodyPr wrap="none">
            <a:spAutoFit/>
          </a:bodyPr>
          <a:lstStyle/>
          <a:p>
            <a:pPr>
              <a:defRPr sz="1600" b="1">
                <a:solidFill>
                  <a:srgbClr val="F5F8FC"/>
                </a:solidFill>
                <a:latin typeface="Aptos"/>
              </a:defRPr>
            </a:pPr>
            <a:r>
              <a:t>CRUD</a:t>
            </a:r>
          </a:p>
        </p:txBody>
      </p:sp>
      <p:sp>
        <p:nvSpPr>
          <p:cNvPr id="18" name="TextBox 17"/>
          <p:cNvSpPr txBox="1"/>
          <p:nvPr/>
        </p:nvSpPr>
        <p:spPr>
          <a:xfrm>
            <a:off x="5971032" y="2130552"/>
            <a:ext cx="2093976" cy="457200"/>
          </a:xfrm>
          <a:prstGeom prst="rect">
            <a:avLst/>
          </a:prstGeom>
          <a:noFill/>
        </p:spPr>
        <p:txBody>
          <a:bodyPr wrap="square">
            <a:spAutoFit/>
          </a:bodyPr>
          <a:lstStyle/>
          <a:p>
            <a:pPr>
              <a:spcAft>
                <a:spcPts val="500"/>
              </a:spcAft>
              <a:defRPr sz="1150">
                <a:solidFill>
                  <a:srgbClr val="A6B5C9"/>
                </a:solidFill>
                <a:latin typeface="Aptos"/>
              </a:defRPr>
            </a:pPr>
            <a:r>
              <a:t>Create, update, read summaries, and delete accounts.</a:t>
            </a:r>
          </a:p>
        </p:txBody>
      </p:sp>
      <p:sp>
        <p:nvSpPr>
          <p:cNvPr id="19" name="Rounded Rectangle 18"/>
          <p:cNvSpPr/>
          <p:nvPr/>
        </p:nvSpPr>
        <p:spPr>
          <a:xfrm>
            <a:off x="8549640" y="1417320"/>
            <a:ext cx="2606040" cy="13258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50808" y="1600200"/>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50808" y="1581912"/>
            <a:ext cx="411480" cy="411480"/>
          </a:xfrm>
          <a:prstGeom prst="rect">
            <a:avLst/>
          </a:prstGeom>
          <a:noFill/>
        </p:spPr>
        <p:txBody>
          <a:bodyPr wrap="none">
            <a:spAutoFit/>
          </a:bodyPr>
          <a:lstStyle/>
          <a:p>
            <a:pPr algn="ctr">
              <a:defRPr sz="1600" b="1">
                <a:solidFill>
                  <a:srgbClr val="081224"/>
                </a:solidFill>
              </a:defRPr>
            </a:pPr>
            <a:r>
              <a:t>✓</a:t>
            </a:r>
          </a:p>
        </p:txBody>
      </p:sp>
      <p:sp>
        <p:nvSpPr>
          <p:cNvPr id="22" name="TextBox 21"/>
          <p:cNvSpPr txBox="1"/>
          <p:nvPr/>
        </p:nvSpPr>
        <p:spPr>
          <a:xfrm>
            <a:off x="9281160" y="1600200"/>
            <a:ext cx="1645919" cy="411480"/>
          </a:xfrm>
          <a:prstGeom prst="rect">
            <a:avLst/>
          </a:prstGeom>
          <a:noFill/>
        </p:spPr>
        <p:txBody>
          <a:bodyPr wrap="none">
            <a:spAutoFit/>
          </a:bodyPr>
          <a:lstStyle/>
          <a:p>
            <a:pPr>
              <a:defRPr sz="1600" b="1">
                <a:solidFill>
                  <a:srgbClr val="F5F8FC"/>
                </a:solidFill>
                <a:latin typeface="Aptos"/>
              </a:defRPr>
            </a:pPr>
            <a:r>
              <a:t>Approvals</a:t>
            </a:r>
          </a:p>
        </p:txBody>
      </p:sp>
      <p:sp>
        <p:nvSpPr>
          <p:cNvPr id="23" name="TextBox 22"/>
          <p:cNvSpPr txBox="1"/>
          <p:nvPr/>
        </p:nvSpPr>
        <p:spPr>
          <a:xfrm>
            <a:off x="8805672" y="2130552"/>
            <a:ext cx="2093976" cy="457200"/>
          </a:xfrm>
          <a:prstGeom prst="rect">
            <a:avLst/>
          </a:prstGeom>
          <a:noFill/>
        </p:spPr>
        <p:txBody>
          <a:bodyPr wrap="square">
            <a:spAutoFit/>
          </a:bodyPr>
          <a:lstStyle/>
          <a:p>
            <a:pPr>
              <a:spcAft>
                <a:spcPts val="500"/>
              </a:spcAft>
              <a:defRPr sz="1150">
                <a:solidFill>
                  <a:srgbClr val="A6B5C9"/>
                </a:solidFill>
                <a:latin typeface="Aptos"/>
              </a:defRPr>
            </a:pPr>
            <a:r>
              <a:t>Review pending cheque requests and approve or reject.</a:t>
            </a:r>
          </a:p>
        </p:txBody>
      </p:sp>
      <p:sp>
        <p:nvSpPr>
          <p:cNvPr id="24" name="Rounded Rectangle 23"/>
          <p:cNvSpPr/>
          <p:nvPr/>
        </p:nvSpPr>
        <p:spPr>
          <a:xfrm>
            <a:off x="5715000" y="3017520"/>
            <a:ext cx="2606040" cy="13258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16168" y="3200400"/>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16168" y="3182112"/>
            <a:ext cx="411480" cy="411480"/>
          </a:xfrm>
          <a:prstGeom prst="rect">
            <a:avLst/>
          </a:prstGeom>
          <a:noFill/>
        </p:spPr>
        <p:txBody>
          <a:bodyPr wrap="none">
            <a:spAutoFit/>
          </a:bodyPr>
          <a:lstStyle/>
          <a:p>
            <a:pPr algn="ctr">
              <a:defRPr sz="1600" b="1">
                <a:solidFill>
                  <a:srgbClr val="081224"/>
                </a:solidFill>
              </a:defRPr>
            </a:pPr>
            <a:r>
              <a:t>↕</a:t>
            </a:r>
          </a:p>
        </p:txBody>
      </p:sp>
      <p:sp>
        <p:nvSpPr>
          <p:cNvPr id="27" name="TextBox 26"/>
          <p:cNvSpPr txBox="1"/>
          <p:nvPr/>
        </p:nvSpPr>
        <p:spPr>
          <a:xfrm>
            <a:off x="6446520" y="3200400"/>
            <a:ext cx="1645920" cy="411480"/>
          </a:xfrm>
          <a:prstGeom prst="rect">
            <a:avLst/>
          </a:prstGeom>
          <a:noFill/>
        </p:spPr>
        <p:txBody>
          <a:bodyPr wrap="none">
            <a:spAutoFit/>
          </a:bodyPr>
          <a:lstStyle/>
          <a:p>
            <a:pPr>
              <a:defRPr sz="1600" b="1">
                <a:solidFill>
                  <a:srgbClr val="F5F8FC"/>
                </a:solidFill>
                <a:latin typeface="Aptos"/>
              </a:defRPr>
            </a:pPr>
            <a:r>
              <a:t>Account State</a:t>
            </a:r>
          </a:p>
        </p:txBody>
      </p:sp>
      <p:sp>
        <p:nvSpPr>
          <p:cNvPr id="28" name="TextBox 27"/>
          <p:cNvSpPr txBox="1"/>
          <p:nvPr/>
        </p:nvSpPr>
        <p:spPr>
          <a:xfrm>
            <a:off x="5971032" y="3730752"/>
            <a:ext cx="2093976" cy="457200"/>
          </a:xfrm>
          <a:prstGeom prst="rect">
            <a:avLst/>
          </a:prstGeom>
          <a:noFill/>
        </p:spPr>
        <p:txBody>
          <a:bodyPr wrap="square">
            <a:spAutoFit/>
          </a:bodyPr>
          <a:lstStyle/>
          <a:p>
            <a:pPr>
              <a:spcAft>
                <a:spcPts val="500"/>
              </a:spcAft>
              <a:defRPr sz="1150">
                <a:solidFill>
                  <a:srgbClr val="A6B5C9"/>
                </a:solidFill>
                <a:latin typeface="Aptos"/>
              </a:defRPr>
            </a:pPr>
            <a:r>
              <a:t>Adjust balances and toggle active status.</a:t>
            </a:r>
          </a:p>
        </p:txBody>
      </p:sp>
      <p:sp>
        <p:nvSpPr>
          <p:cNvPr id="29" name="Rounded Rectangle 28"/>
          <p:cNvSpPr/>
          <p:nvPr/>
        </p:nvSpPr>
        <p:spPr>
          <a:xfrm>
            <a:off x="8549640" y="3017520"/>
            <a:ext cx="2606040" cy="13258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50808" y="320040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50808" y="3182112"/>
            <a:ext cx="411480" cy="411480"/>
          </a:xfrm>
          <a:prstGeom prst="rect">
            <a:avLst/>
          </a:prstGeom>
          <a:noFill/>
        </p:spPr>
        <p:txBody>
          <a:bodyPr wrap="none">
            <a:spAutoFit/>
          </a:bodyPr>
          <a:lstStyle/>
          <a:p>
            <a:pPr algn="ctr">
              <a:defRPr sz="1600" b="1">
                <a:solidFill>
                  <a:srgbClr val="081224"/>
                </a:solidFill>
              </a:defRPr>
            </a:pPr>
            <a:r>
              <a:t>*</a:t>
            </a:r>
          </a:p>
        </p:txBody>
      </p:sp>
      <p:sp>
        <p:nvSpPr>
          <p:cNvPr id="32" name="TextBox 31"/>
          <p:cNvSpPr txBox="1"/>
          <p:nvPr/>
        </p:nvSpPr>
        <p:spPr>
          <a:xfrm>
            <a:off x="9281160" y="3200400"/>
            <a:ext cx="1645919" cy="411480"/>
          </a:xfrm>
          <a:prstGeom prst="rect">
            <a:avLst/>
          </a:prstGeom>
          <a:noFill/>
        </p:spPr>
        <p:txBody>
          <a:bodyPr wrap="none">
            <a:spAutoFit/>
          </a:bodyPr>
          <a:lstStyle/>
          <a:p>
            <a:pPr>
              <a:defRPr sz="1600" b="1">
                <a:solidFill>
                  <a:srgbClr val="F5F8FC"/>
                </a:solidFill>
                <a:latin typeface="Aptos"/>
              </a:defRPr>
            </a:pPr>
            <a:r>
              <a:t>Password Reset</a:t>
            </a:r>
          </a:p>
        </p:txBody>
      </p:sp>
      <p:sp>
        <p:nvSpPr>
          <p:cNvPr id="33" name="TextBox 32"/>
          <p:cNvSpPr txBox="1"/>
          <p:nvPr/>
        </p:nvSpPr>
        <p:spPr>
          <a:xfrm>
            <a:off x="8805672" y="3730752"/>
            <a:ext cx="2093976" cy="457200"/>
          </a:xfrm>
          <a:prstGeom prst="rect">
            <a:avLst/>
          </a:prstGeom>
          <a:noFill/>
        </p:spPr>
        <p:txBody>
          <a:bodyPr wrap="square">
            <a:spAutoFit/>
          </a:bodyPr>
          <a:lstStyle/>
          <a:p>
            <a:pPr>
              <a:spcAft>
                <a:spcPts val="500"/>
              </a:spcAft>
              <a:defRPr sz="1150">
                <a:solidFill>
                  <a:srgbClr val="A6B5C9"/>
                </a:solidFill>
                <a:latin typeface="Aptos"/>
              </a:defRPr>
            </a:pPr>
            <a:r>
              <a:t>Generate temporary credentials and require a new password.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Technology Stack</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Tools and technologies used to build Figgy Bank</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06</a:t>
            </a:r>
          </a:p>
        </p:txBody>
      </p:sp>
      <p:sp>
        <p:nvSpPr>
          <p:cNvPr id="7" name="Rounded Rectangle 6"/>
          <p:cNvSpPr/>
          <p:nvPr/>
        </p:nvSpPr>
        <p:spPr>
          <a:xfrm>
            <a:off x="822960" y="1508760"/>
            <a:ext cx="2468880" cy="2057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691639"/>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673351"/>
            <a:ext cx="411480" cy="411480"/>
          </a:xfrm>
          <a:prstGeom prst="rect">
            <a:avLst/>
          </a:prstGeom>
          <a:noFill/>
        </p:spPr>
        <p:txBody>
          <a:bodyPr wrap="none">
            <a:spAutoFit/>
          </a:bodyPr>
          <a:lstStyle/>
          <a:p>
            <a:pPr algn="ctr">
              <a:defRPr sz="1600" b="1">
                <a:solidFill>
                  <a:srgbClr val="081224"/>
                </a:solidFill>
              </a:defRPr>
            </a:pPr>
            <a:r>
              <a:t>C#</a:t>
            </a:r>
          </a:p>
        </p:txBody>
      </p:sp>
      <p:sp>
        <p:nvSpPr>
          <p:cNvPr id="10" name="TextBox 9"/>
          <p:cNvSpPr txBox="1"/>
          <p:nvPr/>
        </p:nvSpPr>
        <p:spPr>
          <a:xfrm>
            <a:off x="1554480" y="1691639"/>
            <a:ext cx="1508760" cy="411480"/>
          </a:xfrm>
          <a:prstGeom prst="rect">
            <a:avLst/>
          </a:prstGeom>
          <a:noFill/>
        </p:spPr>
        <p:txBody>
          <a:bodyPr wrap="none">
            <a:spAutoFit/>
          </a:bodyPr>
          <a:lstStyle/>
          <a:p>
            <a:pPr>
              <a:defRPr sz="1600" b="1">
                <a:solidFill>
                  <a:srgbClr val="F5F8FC"/>
                </a:solidFill>
                <a:latin typeface="Aptos"/>
              </a:defRPr>
            </a:pPr>
            <a:r>
              <a:t>C# / .NET 10</a:t>
            </a:r>
          </a:p>
        </p:txBody>
      </p:sp>
      <p:sp>
        <p:nvSpPr>
          <p:cNvPr id="11" name="TextBox 10"/>
          <p:cNvSpPr txBox="1"/>
          <p:nvPr/>
        </p:nvSpPr>
        <p:spPr>
          <a:xfrm>
            <a:off x="1078992" y="2221991"/>
            <a:ext cx="1956816" cy="1188720"/>
          </a:xfrm>
          <a:prstGeom prst="rect">
            <a:avLst/>
          </a:prstGeom>
          <a:noFill/>
        </p:spPr>
        <p:txBody>
          <a:bodyPr wrap="square">
            <a:spAutoFit/>
          </a:bodyPr>
          <a:lstStyle/>
          <a:p>
            <a:pPr>
              <a:spcAft>
                <a:spcPts val="500"/>
              </a:spcAft>
              <a:defRPr sz="1150">
                <a:solidFill>
                  <a:srgbClr val="A6B5C9"/>
                </a:solidFill>
                <a:latin typeface="Aptos"/>
              </a:defRPr>
            </a:pPr>
            <a:r>
              <a:t>Application logic, OOP, menus, validation</a:t>
            </a:r>
          </a:p>
        </p:txBody>
      </p:sp>
      <p:sp>
        <p:nvSpPr>
          <p:cNvPr id="12" name="Rounded Rectangle 11"/>
          <p:cNvSpPr/>
          <p:nvPr/>
        </p:nvSpPr>
        <p:spPr>
          <a:xfrm>
            <a:off x="3611879" y="1508760"/>
            <a:ext cx="2468880" cy="2057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813048" y="1691639"/>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3048" y="1673351"/>
            <a:ext cx="411480" cy="411480"/>
          </a:xfrm>
          <a:prstGeom prst="rect">
            <a:avLst/>
          </a:prstGeom>
          <a:noFill/>
        </p:spPr>
        <p:txBody>
          <a:bodyPr wrap="none">
            <a:spAutoFit/>
          </a:bodyPr>
          <a:lstStyle/>
          <a:p>
            <a:pPr algn="ctr">
              <a:defRPr sz="1600" b="1">
                <a:solidFill>
                  <a:srgbClr val="081224"/>
                </a:solidFill>
              </a:defRPr>
            </a:pPr>
            <a:r>
              <a:t>EF</a:t>
            </a:r>
          </a:p>
        </p:txBody>
      </p:sp>
      <p:sp>
        <p:nvSpPr>
          <p:cNvPr id="15" name="TextBox 14"/>
          <p:cNvSpPr txBox="1"/>
          <p:nvPr/>
        </p:nvSpPr>
        <p:spPr>
          <a:xfrm>
            <a:off x="4343400" y="1691639"/>
            <a:ext cx="1508760" cy="411480"/>
          </a:xfrm>
          <a:prstGeom prst="rect">
            <a:avLst/>
          </a:prstGeom>
          <a:noFill/>
        </p:spPr>
        <p:txBody>
          <a:bodyPr wrap="none">
            <a:spAutoFit/>
          </a:bodyPr>
          <a:lstStyle/>
          <a:p>
            <a:pPr>
              <a:defRPr sz="1600" b="1">
                <a:solidFill>
                  <a:srgbClr val="F5F8FC"/>
                </a:solidFill>
                <a:latin typeface="Aptos"/>
              </a:defRPr>
            </a:pPr>
            <a:r>
              <a:t>Entity Framework Core</a:t>
            </a:r>
          </a:p>
        </p:txBody>
      </p:sp>
      <p:sp>
        <p:nvSpPr>
          <p:cNvPr id="16" name="TextBox 15"/>
          <p:cNvSpPr txBox="1"/>
          <p:nvPr/>
        </p:nvSpPr>
        <p:spPr>
          <a:xfrm>
            <a:off x="3867911" y="2221991"/>
            <a:ext cx="1956816" cy="1188720"/>
          </a:xfrm>
          <a:prstGeom prst="rect">
            <a:avLst/>
          </a:prstGeom>
          <a:noFill/>
        </p:spPr>
        <p:txBody>
          <a:bodyPr wrap="square">
            <a:spAutoFit/>
          </a:bodyPr>
          <a:lstStyle/>
          <a:p>
            <a:pPr>
              <a:spcAft>
                <a:spcPts val="500"/>
              </a:spcAft>
              <a:defRPr sz="1150">
                <a:solidFill>
                  <a:srgbClr val="A6B5C9"/>
                </a:solidFill>
                <a:latin typeface="Aptos"/>
              </a:defRPr>
            </a:pPr>
            <a:r>
              <a:t>ORM, change tracking, relationships, persistence</a:t>
            </a:r>
          </a:p>
        </p:txBody>
      </p:sp>
      <p:sp>
        <p:nvSpPr>
          <p:cNvPr id="17" name="Rounded Rectangle 16"/>
          <p:cNvSpPr/>
          <p:nvPr/>
        </p:nvSpPr>
        <p:spPr>
          <a:xfrm>
            <a:off x="6400800" y="1508760"/>
            <a:ext cx="2468880" cy="2057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01968" y="1691639"/>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1968" y="1673351"/>
            <a:ext cx="411480" cy="411480"/>
          </a:xfrm>
          <a:prstGeom prst="rect">
            <a:avLst/>
          </a:prstGeom>
          <a:noFill/>
        </p:spPr>
        <p:txBody>
          <a:bodyPr wrap="none">
            <a:spAutoFit/>
          </a:bodyPr>
          <a:lstStyle/>
          <a:p>
            <a:pPr algn="ctr">
              <a:defRPr sz="1600" b="1">
                <a:solidFill>
                  <a:srgbClr val="081224"/>
                </a:solidFill>
              </a:defRPr>
            </a:pPr>
            <a:r>
              <a:t>SQL</a:t>
            </a:r>
          </a:p>
        </p:txBody>
      </p:sp>
      <p:sp>
        <p:nvSpPr>
          <p:cNvPr id="20" name="TextBox 19"/>
          <p:cNvSpPr txBox="1"/>
          <p:nvPr/>
        </p:nvSpPr>
        <p:spPr>
          <a:xfrm>
            <a:off x="7132320" y="1691639"/>
            <a:ext cx="1508760" cy="411480"/>
          </a:xfrm>
          <a:prstGeom prst="rect">
            <a:avLst/>
          </a:prstGeom>
          <a:noFill/>
        </p:spPr>
        <p:txBody>
          <a:bodyPr wrap="none">
            <a:spAutoFit/>
          </a:bodyPr>
          <a:lstStyle/>
          <a:p>
            <a:pPr>
              <a:defRPr sz="1600" b="1">
                <a:solidFill>
                  <a:srgbClr val="F5F8FC"/>
                </a:solidFill>
                <a:latin typeface="Aptos"/>
              </a:defRPr>
            </a:pPr>
            <a:r>
              <a:t>SQL Server</a:t>
            </a:r>
          </a:p>
        </p:txBody>
      </p:sp>
      <p:sp>
        <p:nvSpPr>
          <p:cNvPr id="21" name="TextBox 20"/>
          <p:cNvSpPr txBox="1"/>
          <p:nvPr/>
        </p:nvSpPr>
        <p:spPr>
          <a:xfrm>
            <a:off x="6656832" y="2221991"/>
            <a:ext cx="1956816" cy="1188720"/>
          </a:xfrm>
          <a:prstGeom prst="rect">
            <a:avLst/>
          </a:prstGeom>
          <a:noFill/>
        </p:spPr>
        <p:txBody>
          <a:bodyPr wrap="square">
            <a:spAutoFit/>
          </a:bodyPr>
          <a:lstStyle/>
          <a:p>
            <a:pPr>
              <a:spcAft>
                <a:spcPts val="500"/>
              </a:spcAft>
              <a:defRPr sz="1150">
                <a:solidFill>
                  <a:srgbClr val="A6B5C9"/>
                </a:solidFill>
                <a:latin typeface="Aptos"/>
              </a:defRPr>
            </a:pPr>
            <a:r>
              <a:t>Relational database for customers, accounts, transactions, requests</a:t>
            </a:r>
          </a:p>
        </p:txBody>
      </p:sp>
      <p:sp>
        <p:nvSpPr>
          <p:cNvPr id="22" name="Rounded Rectangle 21"/>
          <p:cNvSpPr/>
          <p:nvPr/>
        </p:nvSpPr>
        <p:spPr>
          <a:xfrm>
            <a:off x="9189719" y="1508760"/>
            <a:ext cx="2468880" cy="2057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90888" y="1691639"/>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90888" y="1673351"/>
            <a:ext cx="411480" cy="411480"/>
          </a:xfrm>
          <a:prstGeom prst="rect">
            <a:avLst/>
          </a:prstGeom>
          <a:noFill/>
        </p:spPr>
        <p:txBody>
          <a:bodyPr wrap="none">
            <a:spAutoFit/>
          </a:bodyPr>
          <a:lstStyle/>
          <a:p>
            <a:pPr algn="ctr">
              <a:defRPr sz="1600" b="1">
                <a:solidFill>
                  <a:srgbClr val="081224"/>
                </a:solidFill>
              </a:defRPr>
            </a:pPr>
            <a:r>
              <a:t>&gt;_</a:t>
            </a:r>
          </a:p>
        </p:txBody>
      </p:sp>
      <p:sp>
        <p:nvSpPr>
          <p:cNvPr id="25" name="TextBox 24"/>
          <p:cNvSpPr txBox="1"/>
          <p:nvPr/>
        </p:nvSpPr>
        <p:spPr>
          <a:xfrm>
            <a:off x="9921240" y="1691639"/>
            <a:ext cx="1508759" cy="411480"/>
          </a:xfrm>
          <a:prstGeom prst="rect">
            <a:avLst/>
          </a:prstGeom>
          <a:noFill/>
        </p:spPr>
        <p:txBody>
          <a:bodyPr wrap="none">
            <a:spAutoFit/>
          </a:bodyPr>
          <a:lstStyle/>
          <a:p>
            <a:pPr>
              <a:defRPr sz="1600" b="1">
                <a:solidFill>
                  <a:srgbClr val="F5F8FC"/>
                </a:solidFill>
                <a:latin typeface="Aptos"/>
              </a:defRPr>
            </a:pPr>
            <a:r>
              <a:t>VS Code + CLI</a:t>
            </a:r>
          </a:p>
        </p:txBody>
      </p:sp>
      <p:sp>
        <p:nvSpPr>
          <p:cNvPr id="26" name="TextBox 25"/>
          <p:cNvSpPr txBox="1"/>
          <p:nvPr/>
        </p:nvSpPr>
        <p:spPr>
          <a:xfrm>
            <a:off x="9445751" y="2221991"/>
            <a:ext cx="1956816" cy="1188720"/>
          </a:xfrm>
          <a:prstGeom prst="rect">
            <a:avLst/>
          </a:prstGeom>
          <a:noFill/>
        </p:spPr>
        <p:txBody>
          <a:bodyPr wrap="square">
            <a:spAutoFit/>
          </a:bodyPr>
          <a:lstStyle/>
          <a:p>
            <a:pPr>
              <a:spcAft>
                <a:spcPts val="500"/>
              </a:spcAft>
              <a:defRPr sz="1150">
                <a:solidFill>
                  <a:srgbClr val="A6B5C9"/>
                </a:solidFill>
                <a:latin typeface="Aptos"/>
              </a:defRPr>
            </a:pPr>
            <a:r>
              <a:t>Development, builds, migrations, database updates</a:t>
            </a:r>
          </a:p>
        </p:txBody>
      </p:sp>
      <p:sp>
        <p:nvSpPr>
          <p:cNvPr id="27" name="TextBox 26"/>
          <p:cNvSpPr txBox="1"/>
          <p:nvPr/>
        </p:nvSpPr>
        <p:spPr>
          <a:xfrm>
            <a:off x="1143000" y="4251960"/>
            <a:ext cx="9875520" cy="1554480"/>
          </a:xfrm>
          <a:prstGeom prst="rect">
            <a:avLst/>
          </a:prstGeom>
          <a:noFill/>
        </p:spPr>
        <p:txBody>
          <a:bodyPr wrap="square">
            <a:spAutoFit/>
          </a:bodyPr>
          <a:lstStyle/>
          <a:p>
            <a:pPr>
              <a:spcAft>
                <a:spcPts val="1200"/>
              </a:spcAft>
              <a:defRPr sz="1700">
                <a:solidFill>
                  <a:srgbClr val="F5F8FC"/>
                </a:solidFill>
                <a:latin typeface="Aptos"/>
              </a:defRPr>
            </a:pPr>
            <a:r>
              <a:t>•  Code First approach</a:t>
            </a:r>
          </a:p>
          <a:p>
            <a:pPr>
              <a:spcAft>
                <a:spcPts val="1200"/>
              </a:spcAft>
              <a:defRPr sz="1700">
                <a:solidFill>
                  <a:srgbClr val="F5F8FC"/>
                </a:solidFill>
                <a:latin typeface="Aptos"/>
              </a:defRPr>
            </a:pPr>
            <a:r>
              <a:t>•  EF migrations used to evolve the schema</a:t>
            </a:r>
          </a:p>
          <a:p>
            <a:pPr>
              <a:spcAft>
                <a:spcPts val="1200"/>
              </a:spcAft>
              <a:defRPr sz="1700">
                <a:solidFill>
                  <a:srgbClr val="F5F8FC"/>
                </a:solidFill>
                <a:latin typeface="Aptos"/>
              </a:defRPr>
            </a:pPr>
            <a:r>
              <a:t>•  Inheritance used for Savings and Checking account types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How the Application Connects</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A simple layered flow from user input to persisted data</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07</a:t>
            </a:r>
          </a:p>
        </p:txBody>
      </p:sp>
      <p:sp>
        <p:nvSpPr>
          <p:cNvPr id="7" name="Rounded Rectangle 6"/>
          <p:cNvSpPr/>
          <p:nvPr/>
        </p:nvSpPr>
        <p:spPr>
          <a:xfrm>
            <a:off x="914400" y="2057400"/>
            <a:ext cx="1874519" cy="1143000"/>
          </a:xfrm>
          <a:prstGeom prst="roundRect">
            <a:avLst/>
          </a:prstGeom>
          <a:solidFill>
            <a:srgbClr val="142741"/>
          </a:solidFill>
          <a:ln>
            <a:solidFill>
              <a:srgbClr val="26C6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331720"/>
            <a:ext cx="1600200" cy="594360"/>
          </a:xfrm>
          <a:prstGeom prst="rect">
            <a:avLst/>
          </a:prstGeom>
          <a:noFill/>
        </p:spPr>
        <p:txBody>
          <a:bodyPr wrap="none">
            <a:spAutoFit/>
          </a:bodyPr>
          <a:lstStyle/>
          <a:p>
            <a:pPr algn="ctr">
              <a:defRPr sz="1800" b="1">
                <a:solidFill>
                  <a:srgbClr val="F5F8FC"/>
                </a:solidFill>
              </a:defRPr>
            </a:pPr>
            <a:r>
              <a:t>Console UI</a:t>
            </a:r>
          </a:p>
        </p:txBody>
      </p:sp>
      <p:sp>
        <p:nvSpPr>
          <p:cNvPr id="9" name="Rounded Rectangle 8"/>
          <p:cNvSpPr/>
          <p:nvPr/>
        </p:nvSpPr>
        <p:spPr>
          <a:xfrm>
            <a:off x="3246120" y="2057400"/>
            <a:ext cx="1874519" cy="1143000"/>
          </a:xfrm>
          <a:prstGeom prst="roundRect">
            <a:avLst/>
          </a:prstGeom>
          <a:solidFill>
            <a:srgbClr val="142741"/>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79" y="2331720"/>
            <a:ext cx="1600200" cy="594360"/>
          </a:xfrm>
          <a:prstGeom prst="rect">
            <a:avLst/>
          </a:prstGeom>
          <a:noFill/>
        </p:spPr>
        <p:txBody>
          <a:bodyPr wrap="none">
            <a:spAutoFit/>
          </a:bodyPr>
          <a:lstStyle/>
          <a:p>
            <a:pPr algn="ctr">
              <a:defRPr sz="1800" b="1">
                <a:solidFill>
                  <a:srgbClr val="F5F8FC"/>
                </a:solidFill>
              </a:defRPr>
            </a:pPr>
            <a:r>
              <a:t>C# Models</a:t>
            </a:r>
            <a:br/>
            <a:r>
              <a:t>&amp; Methods</a:t>
            </a:r>
          </a:p>
        </p:txBody>
      </p:sp>
      <p:sp>
        <p:nvSpPr>
          <p:cNvPr id="11" name="Rounded Rectangle 10"/>
          <p:cNvSpPr/>
          <p:nvPr/>
        </p:nvSpPr>
        <p:spPr>
          <a:xfrm>
            <a:off x="5623560" y="2057400"/>
            <a:ext cx="1874519" cy="1143000"/>
          </a:xfrm>
          <a:prstGeom prst="roundRect">
            <a:avLst/>
          </a:prstGeom>
          <a:solidFill>
            <a:srgbClr val="142741"/>
          </a:solidFill>
          <a:ln>
            <a:solidFill>
              <a:srgbClr val="40C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2331720"/>
            <a:ext cx="1600200" cy="594360"/>
          </a:xfrm>
          <a:prstGeom prst="rect">
            <a:avLst/>
          </a:prstGeom>
          <a:noFill/>
        </p:spPr>
        <p:txBody>
          <a:bodyPr wrap="none">
            <a:spAutoFit/>
          </a:bodyPr>
          <a:lstStyle/>
          <a:p>
            <a:pPr algn="ctr">
              <a:defRPr sz="1800" b="1">
                <a:solidFill>
                  <a:srgbClr val="F5F8FC"/>
                </a:solidFill>
              </a:defRPr>
            </a:pPr>
            <a:r>
              <a:t>EF Core</a:t>
            </a:r>
          </a:p>
        </p:txBody>
      </p:sp>
      <p:sp>
        <p:nvSpPr>
          <p:cNvPr id="13" name="Rounded Rectangle 12"/>
          <p:cNvSpPr/>
          <p:nvPr/>
        </p:nvSpPr>
        <p:spPr>
          <a:xfrm>
            <a:off x="8001000" y="2057400"/>
            <a:ext cx="1874519" cy="1143000"/>
          </a:xfrm>
          <a:prstGeom prst="roundRect">
            <a:avLst/>
          </a:prstGeom>
          <a:solidFill>
            <a:srgbClr val="142741"/>
          </a:solidFill>
          <a:ln>
            <a:solidFill>
              <a:srgbClr val="26C6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331720"/>
            <a:ext cx="1600200" cy="594360"/>
          </a:xfrm>
          <a:prstGeom prst="rect">
            <a:avLst/>
          </a:prstGeom>
          <a:noFill/>
        </p:spPr>
        <p:txBody>
          <a:bodyPr wrap="none">
            <a:spAutoFit/>
          </a:bodyPr>
          <a:lstStyle/>
          <a:p>
            <a:pPr algn="ctr">
              <a:defRPr sz="1800" b="1">
                <a:solidFill>
                  <a:srgbClr val="F5F8FC"/>
                </a:solidFill>
              </a:defRPr>
            </a:pPr>
            <a:r>
              <a:t>SQL Server</a:t>
            </a:r>
          </a:p>
        </p:txBody>
      </p:sp>
      <p:cxnSp>
        <p:nvCxnSpPr>
          <p:cNvPr id="15" name="Connector 14"/>
          <p:cNvCxnSpPr/>
          <p:nvPr/>
        </p:nvCxnSpPr>
        <p:spPr>
          <a:xfrm>
            <a:off x="2852928" y="2633472"/>
            <a:ext cx="320040" cy="0"/>
          </a:xfrm>
          <a:prstGeom prst="line">
            <a:avLst/>
          </a:prstGeom>
          <a:ln w="25400">
            <a:solidFill>
              <a:srgbClr val="A6B5C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0368" y="2633472"/>
            <a:ext cx="320039" cy="0"/>
          </a:xfrm>
          <a:prstGeom prst="line">
            <a:avLst/>
          </a:prstGeom>
          <a:ln w="25400">
            <a:solidFill>
              <a:srgbClr val="A6B5C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607808" y="2633472"/>
            <a:ext cx="320040" cy="0"/>
          </a:xfrm>
          <a:prstGeom prst="line">
            <a:avLst/>
          </a:prstGeom>
          <a:ln w="25400">
            <a:solidFill>
              <a:srgbClr val="A6B5C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51560" y="3977639"/>
            <a:ext cx="10058400" cy="1645920"/>
          </a:xfrm>
          <a:prstGeom prst="rect">
            <a:avLst/>
          </a:prstGeom>
          <a:noFill/>
        </p:spPr>
        <p:txBody>
          <a:bodyPr wrap="square">
            <a:spAutoFit/>
          </a:bodyPr>
          <a:lstStyle/>
          <a:p>
            <a:pPr>
              <a:spcAft>
                <a:spcPts val="1200"/>
              </a:spcAft>
              <a:defRPr sz="1600">
                <a:solidFill>
                  <a:srgbClr val="F5F8FC"/>
                </a:solidFill>
                <a:latin typeface="Aptos"/>
              </a:defRPr>
            </a:pPr>
            <a:r>
              <a:t>•  BankContext defines DbSet collections and relationships</a:t>
            </a:r>
          </a:p>
          <a:p>
            <a:pPr>
              <a:spcAft>
                <a:spcPts val="1200"/>
              </a:spcAft>
              <a:defRPr sz="1600">
                <a:solidFill>
                  <a:srgbClr val="F5F8FC"/>
                </a:solidFill>
                <a:latin typeface="Aptos"/>
              </a:defRPr>
            </a:pPr>
            <a:r>
              <a:t>•  DatabaseService loads the customer with related accounts, transactions, and requests</a:t>
            </a:r>
          </a:p>
          <a:p>
            <a:pPr>
              <a:spcAft>
                <a:spcPts val="1200"/>
              </a:spcAft>
              <a:defRPr sz="1600">
                <a:solidFill>
                  <a:srgbClr val="F5F8FC"/>
                </a:solidFill>
                <a:latin typeface="Aptos"/>
              </a:defRPr>
            </a:pPr>
            <a:r>
              <a:t>•  SaveChanges() translates tracked changes into SQL INSERT / UPDATE / DELETE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Data Model</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Relationships behind the banking workflows</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08</a:t>
            </a:r>
          </a:p>
        </p:txBody>
      </p:sp>
      <p:sp>
        <p:nvSpPr>
          <p:cNvPr id="7" name="Rounded Rectangle 6"/>
          <p:cNvSpPr/>
          <p:nvPr/>
        </p:nvSpPr>
        <p:spPr>
          <a:xfrm>
            <a:off x="640080" y="2057400"/>
            <a:ext cx="2148840" cy="13258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224028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21992"/>
            <a:ext cx="411480" cy="411480"/>
          </a:xfrm>
          <a:prstGeom prst="rect">
            <a:avLst/>
          </a:prstGeom>
          <a:noFill/>
        </p:spPr>
        <p:txBody>
          <a:bodyPr wrap="none">
            <a:spAutoFit/>
          </a:bodyPr>
          <a:lstStyle/>
          <a:p>
            <a:pPr algn="ctr">
              <a:defRPr sz="1600" b="1">
                <a:solidFill>
                  <a:srgbClr val="081224"/>
                </a:solidFill>
              </a:defRPr>
            </a:pPr>
            <a:r>
              <a:t>1</a:t>
            </a:r>
          </a:p>
        </p:txBody>
      </p:sp>
      <p:sp>
        <p:nvSpPr>
          <p:cNvPr id="10" name="TextBox 9"/>
          <p:cNvSpPr txBox="1"/>
          <p:nvPr/>
        </p:nvSpPr>
        <p:spPr>
          <a:xfrm>
            <a:off x="1371600" y="2240280"/>
            <a:ext cx="1188720" cy="411480"/>
          </a:xfrm>
          <a:prstGeom prst="rect">
            <a:avLst/>
          </a:prstGeom>
          <a:noFill/>
        </p:spPr>
        <p:txBody>
          <a:bodyPr wrap="none">
            <a:spAutoFit/>
          </a:bodyPr>
          <a:lstStyle/>
          <a:p>
            <a:pPr>
              <a:defRPr sz="1600" b="1">
                <a:solidFill>
                  <a:srgbClr val="F5F8FC"/>
                </a:solidFill>
                <a:latin typeface="Aptos"/>
              </a:defRPr>
            </a:pPr>
            <a:r>
              <a:t>Customer</a:t>
            </a:r>
          </a:p>
        </p:txBody>
      </p:sp>
      <p:sp>
        <p:nvSpPr>
          <p:cNvPr id="11" name="TextBox 10"/>
          <p:cNvSpPr txBox="1"/>
          <p:nvPr/>
        </p:nvSpPr>
        <p:spPr>
          <a:xfrm>
            <a:off x="896112" y="2770632"/>
            <a:ext cx="1636776" cy="457200"/>
          </a:xfrm>
          <a:prstGeom prst="rect">
            <a:avLst/>
          </a:prstGeom>
          <a:noFill/>
        </p:spPr>
        <p:txBody>
          <a:bodyPr wrap="square">
            <a:spAutoFit/>
          </a:bodyPr>
          <a:lstStyle/>
          <a:p>
            <a:pPr>
              <a:spcAft>
                <a:spcPts val="500"/>
              </a:spcAft>
              <a:defRPr sz="1150">
                <a:solidFill>
                  <a:srgbClr val="A6B5C9"/>
                </a:solidFill>
                <a:latin typeface="Aptos"/>
              </a:defRPr>
            </a:pPr>
            <a:r>
              <a:t>CustomerID</a:t>
            </a:r>
            <a:br/>
            <a:r>
              <a:t>UserName • Password</a:t>
            </a:r>
            <a:br/>
            <a:r>
              <a:t>MustChangePassword</a:t>
            </a:r>
          </a:p>
        </p:txBody>
      </p:sp>
      <p:sp>
        <p:nvSpPr>
          <p:cNvPr id="12" name="Rounded Rectangle 11"/>
          <p:cNvSpPr/>
          <p:nvPr/>
        </p:nvSpPr>
        <p:spPr>
          <a:xfrm>
            <a:off x="3429000" y="1234440"/>
            <a:ext cx="2331720" cy="141732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30168" y="1417320"/>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0168" y="1399032"/>
            <a:ext cx="411480" cy="411480"/>
          </a:xfrm>
          <a:prstGeom prst="rect">
            <a:avLst/>
          </a:prstGeom>
          <a:noFill/>
        </p:spPr>
        <p:txBody>
          <a:bodyPr wrap="none">
            <a:spAutoFit/>
          </a:bodyPr>
          <a:lstStyle/>
          <a:p>
            <a:pPr algn="ctr">
              <a:defRPr sz="1600" b="1">
                <a:solidFill>
                  <a:srgbClr val="081224"/>
                </a:solidFill>
              </a:defRPr>
            </a:pPr>
            <a:r>
              <a:t>N</a:t>
            </a:r>
          </a:p>
        </p:txBody>
      </p:sp>
      <p:sp>
        <p:nvSpPr>
          <p:cNvPr id="15" name="TextBox 14"/>
          <p:cNvSpPr txBox="1"/>
          <p:nvPr/>
        </p:nvSpPr>
        <p:spPr>
          <a:xfrm>
            <a:off x="4160520" y="1417320"/>
            <a:ext cx="1371600" cy="411480"/>
          </a:xfrm>
          <a:prstGeom prst="rect">
            <a:avLst/>
          </a:prstGeom>
          <a:noFill/>
        </p:spPr>
        <p:txBody>
          <a:bodyPr wrap="none">
            <a:spAutoFit/>
          </a:bodyPr>
          <a:lstStyle/>
          <a:p>
            <a:pPr>
              <a:defRPr sz="1600" b="1">
                <a:solidFill>
                  <a:srgbClr val="F5F8FC"/>
                </a:solidFill>
                <a:latin typeface="Aptos"/>
              </a:defRPr>
            </a:pPr>
            <a:r>
              <a:t>Account</a:t>
            </a:r>
          </a:p>
        </p:txBody>
      </p:sp>
      <p:sp>
        <p:nvSpPr>
          <p:cNvPr id="16" name="TextBox 15"/>
          <p:cNvSpPr txBox="1"/>
          <p:nvPr/>
        </p:nvSpPr>
        <p:spPr>
          <a:xfrm>
            <a:off x="3685032" y="1947672"/>
            <a:ext cx="1819655" cy="548640"/>
          </a:xfrm>
          <a:prstGeom prst="rect">
            <a:avLst/>
          </a:prstGeom>
          <a:noFill/>
        </p:spPr>
        <p:txBody>
          <a:bodyPr wrap="square">
            <a:spAutoFit/>
          </a:bodyPr>
          <a:lstStyle/>
          <a:p>
            <a:pPr>
              <a:spcAft>
                <a:spcPts val="500"/>
              </a:spcAft>
              <a:defRPr sz="1150">
                <a:solidFill>
                  <a:srgbClr val="A6B5C9"/>
                </a:solidFill>
                <a:latin typeface="Aptos"/>
              </a:defRPr>
            </a:pPr>
            <a:r>
              <a:t>AccountNumber</a:t>
            </a:r>
            <a:br/>
            <a:r>
              <a:t>Balance • Type • Active</a:t>
            </a:r>
          </a:p>
        </p:txBody>
      </p:sp>
      <p:sp>
        <p:nvSpPr>
          <p:cNvPr id="17" name="Rounded Rectangle 16"/>
          <p:cNvSpPr/>
          <p:nvPr/>
        </p:nvSpPr>
        <p:spPr>
          <a:xfrm>
            <a:off x="6537960" y="868680"/>
            <a:ext cx="2423160" cy="141732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739128" y="1051560"/>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39128" y="1033271"/>
            <a:ext cx="411480" cy="411480"/>
          </a:xfrm>
          <a:prstGeom prst="rect">
            <a:avLst/>
          </a:prstGeom>
          <a:noFill/>
        </p:spPr>
        <p:txBody>
          <a:bodyPr wrap="none">
            <a:spAutoFit/>
          </a:bodyPr>
          <a:lstStyle/>
          <a:p>
            <a:pPr algn="ctr">
              <a:defRPr sz="1600" b="1">
                <a:solidFill>
                  <a:srgbClr val="081224"/>
                </a:solidFill>
              </a:defRPr>
            </a:pPr>
            <a:r>
              <a:t>N</a:t>
            </a:r>
          </a:p>
        </p:txBody>
      </p:sp>
      <p:sp>
        <p:nvSpPr>
          <p:cNvPr id="20" name="TextBox 19"/>
          <p:cNvSpPr txBox="1"/>
          <p:nvPr/>
        </p:nvSpPr>
        <p:spPr>
          <a:xfrm>
            <a:off x="7269480" y="1051560"/>
            <a:ext cx="1463040" cy="411480"/>
          </a:xfrm>
          <a:prstGeom prst="rect">
            <a:avLst/>
          </a:prstGeom>
          <a:noFill/>
        </p:spPr>
        <p:txBody>
          <a:bodyPr wrap="none">
            <a:spAutoFit/>
          </a:bodyPr>
          <a:lstStyle/>
          <a:p>
            <a:pPr>
              <a:defRPr sz="1600" b="1">
                <a:solidFill>
                  <a:srgbClr val="F5F8FC"/>
                </a:solidFill>
                <a:latin typeface="Aptos"/>
              </a:defRPr>
            </a:pPr>
            <a:r>
              <a:t>Transaction</a:t>
            </a:r>
          </a:p>
        </p:txBody>
      </p:sp>
      <p:sp>
        <p:nvSpPr>
          <p:cNvPr id="21" name="TextBox 20"/>
          <p:cNvSpPr txBox="1"/>
          <p:nvPr/>
        </p:nvSpPr>
        <p:spPr>
          <a:xfrm>
            <a:off x="6793992" y="1581912"/>
            <a:ext cx="1911095" cy="548640"/>
          </a:xfrm>
          <a:prstGeom prst="rect">
            <a:avLst/>
          </a:prstGeom>
          <a:noFill/>
        </p:spPr>
        <p:txBody>
          <a:bodyPr wrap="square">
            <a:spAutoFit/>
          </a:bodyPr>
          <a:lstStyle/>
          <a:p>
            <a:pPr>
              <a:spcAft>
                <a:spcPts val="500"/>
              </a:spcAft>
              <a:defRPr sz="1150">
                <a:solidFill>
                  <a:srgbClr val="A6B5C9"/>
                </a:solidFill>
                <a:latin typeface="Aptos"/>
              </a:defRPr>
            </a:pPr>
            <a:r>
              <a:t>TransactionID</a:t>
            </a:r>
            <a:br/>
            <a:r>
              <a:t>Amount • Type • Date</a:t>
            </a:r>
          </a:p>
        </p:txBody>
      </p:sp>
      <p:sp>
        <p:nvSpPr>
          <p:cNvPr id="22" name="Rounded Rectangle 21"/>
          <p:cNvSpPr/>
          <p:nvPr/>
        </p:nvSpPr>
        <p:spPr>
          <a:xfrm>
            <a:off x="6537960" y="2788920"/>
            <a:ext cx="2423160" cy="141732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739128" y="297180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9128" y="2953512"/>
            <a:ext cx="411480" cy="411480"/>
          </a:xfrm>
          <a:prstGeom prst="rect">
            <a:avLst/>
          </a:prstGeom>
          <a:noFill/>
        </p:spPr>
        <p:txBody>
          <a:bodyPr wrap="none">
            <a:spAutoFit/>
          </a:bodyPr>
          <a:lstStyle/>
          <a:p>
            <a:pPr algn="ctr">
              <a:defRPr sz="1600" b="1">
                <a:solidFill>
                  <a:srgbClr val="081224"/>
                </a:solidFill>
              </a:defRPr>
            </a:pPr>
            <a:r>
              <a:t>N</a:t>
            </a:r>
          </a:p>
        </p:txBody>
      </p:sp>
      <p:sp>
        <p:nvSpPr>
          <p:cNvPr id="25" name="TextBox 24"/>
          <p:cNvSpPr txBox="1"/>
          <p:nvPr/>
        </p:nvSpPr>
        <p:spPr>
          <a:xfrm>
            <a:off x="7269480" y="2971800"/>
            <a:ext cx="1463040" cy="411480"/>
          </a:xfrm>
          <a:prstGeom prst="rect">
            <a:avLst/>
          </a:prstGeom>
          <a:noFill/>
        </p:spPr>
        <p:txBody>
          <a:bodyPr wrap="none">
            <a:spAutoFit/>
          </a:bodyPr>
          <a:lstStyle/>
          <a:p>
            <a:pPr>
              <a:defRPr sz="1600" b="1">
                <a:solidFill>
                  <a:srgbClr val="F5F8FC"/>
                </a:solidFill>
                <a:latin typeface="Aptos"/>
              </a:defRPr>
            </a:pPr>
            <a:r>
              <a:t>ChequeBookRequest</a:t>
            </a:r>
          </a:p>
        </p:txBody>
      </p:sp>
      <p:sp>
        <p:nvSpPr>
          <p:cNvPr id="26" name="TextBox 25"/>
          <p:cNvSpPr txBox="1"/>
          <p:nvPr/>
        </p:nvSpPr>
        <p:spPr>
          <a:xfrm>
            <a:off x="6793992" y="3502152"/>
            <a:ext cx="1911095" cy="548640"/>
          </a:xfrm>
          <a:prstGeom prst="rect">
            <a:avLst/>
          </a:prstGeom>
          <a:noFill/>
        </p:spPr>
        <p:txBody>
          <a:bodyPr wrap="square">
            <a:spAutoFit/>
          </a:bodyPr>
          <a:lstStyle/>
          <a:p>
            <a:pPr>
              <a:spcAft>
                <a:spcPts val="500"/>
              </a:spcAft>
              <a:defRPr sz="1150">
                <a:solidFill>
                  <a:srgbClr val="A6B5C9"/>
                </a:solidFill>
                <a:latin typeface="Aptos"/>
              </a:defRPr>
            </a:pPr>
            <a:r>
              <a:t>RequestID</a:t>
            </a:r>
            <a:br/>
            <a:r>
              <a:t>Status • Date</a:t>
            </a:r>
          </a:p>
        </p:txBody>
      </p:sp>
      <p:sp>
        <p:nvSpPr>
          <p:cNvPr id="27" name="Rounded Rectangle 26"/>
          <p:cNvSpPr/>
          <p:nvPr/>
        </p:nvSpPr>
        <p:spPr>
          <a:xfrm>
            <a:off x="9555480" y="1234440"/>
            <a:ext cx="1965960" cy="141732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756648" y="1417320"/>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56648" y="1399032"/>
            <a:ext cx="411480" cy="411480"/>
          </a:xfrm>
          <a:prstGeom prst="rect">
            <a:avLst/>
          </a:prstGeom>
          <a:noFill/>
        </p:spPr>
        <p:txBody>
          <a:bodyPr wrap="none">
            <a:spAutoFit/>
          </a:bodyPr>
          <a:lstStyle/>
          <a:p>
            <a:pPr algn="ctr">
              <a:defRPr sz="1600" b="1">
                <a:solidFill>
                  <a:srgbClr val="081224"/>
                </a:solidFill>
              </a:defRPr>
            </a:pPr>
            <a:r>
              <a:t>S</a:t>
            </a:r>
          </a:p>
        </p:txBody>
      </p:sp>
      <p:sp>
        <p:nvSpPr>
          <p:cNvPr id="30" name="TextBox 29"/>
          <p:cNvSpPr txBox="1"/>
          <p:nvPr/>
        </p:nvSpPr>
        <p:spPr>
          <a:xfrm>
            <a:off x="10287000" y="1417320"/>
            <a:ext cx="1005839" cy="411480"/>
          </a:xfrm>
          <a:prstGeom prst="rect">
            <a:avLst/>
          </a:prstGeom>
          <a:noFill/>
        </p:spPr>
        <p:txBody>
          <a:bodyPr wrap="none">
            <a:spAutoFit/>
          </a:bodyPr>
          <a:lstStyle/>
          <a:p>
            <a:pPr>
              <a:defRPr sz="1600" b="1">
                <a:solidFill>
                  <a:srgbClr val="F5F8FC"/>
                </a:solidFill>
                <a:latin typeface="Aptos"/>
              </a:defRPr>
            </a:pPr>
            <a:r>
              <a:t>Savings</a:t>
            </a:r>
          </a:p>
        </p:txBody>
      </p:sp>
      <p:sp>
        <p:nvSpPr>
          <p:cNvPr id="31" name="TextBox 30"/>
          <p:cNvSpPr txBox="1"/>
          <p:nvPr/>
        </p:nvSpPr>
        <p:spPr>
          <a:xfrm>
            <a:off x="9811511" y="1947672"/>
            <a:ext cx="1453895" cy="548640"/>
          </a:xfrm>
          <a:prstGeom prst="rect">
            <a:avLst/>
          </a:prstGeom>
          <a:noFill/>
        </p:spPr>
        <p:txBody>
          <a:bodyPr wrap="square">
            <a:spAutoFit/>
          </a:bodyPr>
          <a:lstStyle/>
          <a:p>
            <a:pPr>
              <a:spcAft>
                <a:spcPts val="500"/>
              </a:spcAft>
              <a:defRPr sz="1150">
                <a:solidFill>
                  <a:srgbClr val="A6B5C9"/>
                </a:solidFill>
                <a:latin typeface="Aptos"/>
              </a:defRPr>
            </a:pPr>
            <a:r>
              <a:t>Derived Account</a:t>
            </a:r>
          </a:p>
        </p:txBody>
      </p:sp>
      <p:sp>
        <p:nvSpPr>
          <p:cNvPr id="32" name="Rounded Rectangle 31"/>
          <p:cNvSpPr/>
          <p:nvPr/>
        </p:nvSpPr>
        <p:spPr>
          <a:xfrm>
            <a:off x="9555480" y="2788920"/>
            <a:ext cx="1965960" cy="141732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56648" y="2971800"/>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56648" y="2953512"/>
            <a:ext cx="411480" cy="411480"/>
          </a:xfrm>
          <a:prstGeom prst="rect">
            <a:avLst/>
          </a:prstGeom>
          <a:noFill/>
        </p:spPr>
        <p:txBody>
          <a:bodyPr wrap="none">
            <a:spAutoFit/>
          </a:bodyPr>
          <a:lstStyle/>
          <a:p>
            <a:pPr algn="ctr">
              <a:defRPr sz="1600" b="1">
                <a:solidFill>
                  <a:srgbClr val="081224"/>
                </a:solidFill>
              </a:defRPr>
            </a:pPr>
            <a:r>
              <a:t>C</a:t>
            </a:r>
          </a:p>
        </p:txBody>
      </p:sp>
      <p:sp>
        <p:nvSpPr>
          <p:cNvPr id="35" name="TextBox 34"/>
          <p:cNvSpPr txBox="1"/>
          <p:nvPr/>
        </p:nvSpPr>
        <p:spPr>
          <a:xfrm>
            <a:off x="10287000" y="2971800"/>
            <a:ext cx="1005839" cy="411480"/>
          </a:xfrm>
          <a:prstGeom prst="rect">
            <a:avLst/>
          </a:prstGeom>
          <a:noFill/>
        </p:spPr>
        <p:txBody>
          <a:bodyPr wrap="none">
            <a:spAutoFit/>
          </a:bodyPr>
          <a:lstStyle/>
          <a:p>
            <a:pPr>
              <a:defRPr sz="1600" b="1">
                <a:solidFill>
                  <a:srgbClr val="F5F8FC"/>
                </a:solidFill>
                <a:latin typeface="Aptos"/>
              </a:defRPr>
            </a:pPr>
            <a:r>
              <a:t>Checking</a:t>
            </a:r>
          </a:p>
        </p:txBody>
      </p:sp>
      <p:sp>
        <p:nvSpPr>
          <p:cNvPr id="36" name="TextBox 35"/>
          <p:cNvSpPr txBox="1"/>
          <p:nvPr/>
        </p:nvSpPr>
        <p:spPr>
          <a:xfrm>
            <a:off x="9811511" y="3502152"/>
            <a:ext cx="1453895" cy="548640"/>
          </a:xfrm>
          <a:prstGeom prst="rect">
            <a:avLst/>
          </a:prstGeom>
          <a:noFill/>
        </p:spPr>
        <p:txBody>
          <a:bodyPr wrap="square">
            <a:spAutoFit/>
          </a:bodyPr>
          <a:lstStyle/>
          <a:p>
            <a:pPr>
              <a:spcAft>
                <a:spcPts val="500"/>
              </a:spcAft>
              <a:defRPr sz="1150">
                <a:solidFill>
                  <a:srgbClr val="A6B5C9"/>
                </a:solidFill>
                <a:latin typeface="Aptos"/>
              </a:defRPr>
            </a:pPr>
            <a:r>
              <a:t>Derived Account</a:t>
            </a:r>
          </a:p>
        </p:txBody>
      </p:sp>
      <p:sp>
        <p:nvSpPr>
          <p:cNvPr id="37" name="TextBox 36"/>
          <p:cNvSpPr txBox="1"/>
          <p:nvPr/>
        </p:nvSpPr>
        <p:spPr>
          <a:xfrm>
            <a:off x="2743200" y="1874519"/>
            <a:ext cx="1097280" cy="365760"/>
          </a:xfrm>
          <a:prstGeom prst="rect">
            <a:avLst/>
          </a:prstGeom>
          <a:noFill/>
        </p:spPr>
        <p:txBody>
          <a:bodyPr wrap="none">
            <a:spAutoFit/>
          </a:bodyPr>
          <a:lstStyle/>
          <a:p>
            <a:pPr algn="ctr">
              <a:defRPr sz="1000">
                <a:solidFill>
                  <a:srgbClr val="A6B5C9"/>
                </a:solidFill>
              </a:defRPr>
            </a:pPr>
            <a:r>
              <a:t>1 → many</a:t>
            </a:r>
          </a:p>
        </p:txBody>
      </p:sp>
      <p:sp>
        <p:nvSpPr>
          <p:cNvPr id="38" name="TextBox 37"/>
          <p:cNvSpPr txBox="1"/>
          <p:nvPr/>
        </p:nvSpPr>
        <p:spPr>
          <a:xfrm>
            <a:off x="5715000" y="1417320"/>
            <a:ext cx="1097280" cy="365760"/>
          </a:xfrm>
          <a:prstGeom prst="rect">
            <a:avLst/>
          </a:prstGeom>
          <a:noFill/>
        </p:spPr>
        <p:txBody>
          <a:bodyPr wrap="none">
            <a:spAutoFit/>
          </a:bodyPr>
          <a:lstStyle/>
          <a:p>
            <a:pPr algn="ctr">
              <a:defRPr sz="1000">
                <a:solidFill>
                  <a:srgbClr val="A6B5C9"/>
                </a:solidFill>
              </a:defRPr>
            </a:pPr>
            <a:r>
              <a:t>1 → many</a:t>
            </a:r>
          </a:p>
        </p:txBody>
      </p:sp>
      <p:sp>
        <p:nvSpPr>
          <p:cNvPr id="39" name="TextBox 38"/>
          <p:cNvSpPr txBox="1"/>
          <p:nvPr/>
        </p:nvSpPr>
        <p:spPr>
          <a:xfrm>
            <a:off x="5715000" y="3337560"/>
            <a:ext cx="1097280" cy="365760"/>
          </a:xfrm>
          <a:prstGeom prst="rect">
            <a:avLst/>
          </a:prstGeom>
          <a:noFill/>
        </p:spPr>
        <p:txBody>
          <a:bodyPr wrap="none">
            <a:spAutoFit/>
          </a:bodyPr>
          <a:lstStyle/>
          <a:p>
            <a:pPr algn="ctr">
              <a:defRPr sz="1000">
                <a:solidFill>
                  <a:srgbClr val="A6B5C9"/>
                </a:solidFill>
              </a:defRPr>
            </a:pPr>
            <a:r>
              <a:t>1 → many</a:t>
            </a:r>
          </a:p>
        </p:txBody>
      </p:sp>
      <p:sp>
        <p:nvSpPr>
          <p:cNvPr id="40" name="TextBox 39"/>
          <p:cNvSpPr txBox="1"/>
          <p:nvPr/>
        </p:nvSpPr>
        <p:spPr>
          <a:xfrm>
            <a:off x="8887968" y="2331720"/>
            <a:ext cx="1097280" cy="365760"/>
          </a:xfrm>
          <a:prstGeom prst="rect">
            <a:avLst/>
          </a:prstGeom>
          <a:noFill/>
        </p:spPr>
        <p:txBody>
          <a:bodyPr wrap="none">
            <a:spAutoFit/>
          </a:bodyPr>
          <a:lstStyle/>
          <a:p>
            <a:pPr algn="ctr">
              <a:defRPr sz="1000">
                <a:solidFill>
                  <a:srgbClr val="A6B5C9"/>
                </a:solidFill>
              </a:defRPr>
            </a:pPr>
            <a:r>
              <a:t>TPH inheritance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Application Walkthrough</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Representative console views — replace with live screenshots if desired</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09</a:t>
            </a:r>
          </a:p>
        </p:txBody>
      </p:sp>
      <p:sp>
        <p:nvSpPr>
          <p:cNvPr id="7" name="Rounded Rectangle 6"/>
          <p:cNvSpPr/>
          <p:nvPr/>
        </p:nvSpPr>
        <p:spPr>
          <a:xfrm>
            <a:off x="594360" y="1325880"/>
            <a:ext cx="3474720" cy="4389120"/>
          </a:xfrm>
          <a:prstGeom prst="roundRect">
            <a:avLst/>
          </a:prstGeom>
          <a:solidFill>
            <a:srgbClr val="04080F"/>
          </a:solidFill>
          <a:ln>
            <a:solidFill>
              <a:srgbClr val="364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25880"/>
            <a:ext cx="3474720" cy="347472"/>
          </a:xfrm>
          <a:prstGeom prst="rect">
            <a:avLst/>
          </a:prstGeom>
          <a:solidFill>
            <a:srgbClr val="1A1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40664" y="1435607"/>
            <a:ext cx="91440" cy="91440"/>
          </a:xfrm>
          <a:prstGeom prst="ellipse">
            <a:avLst/>
          </a:prstGeom>
          <a:solidFill>
            <a:srgbClr val="F563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0976" y="1435607"/>
            <a:ext cx="91440" cy="9144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1288" y="1435607"/>
            <a:ext cx="91440" cy="9144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1389888"/>
            <a:ext cx="2560320" cy="201168"/>
          </a:xfrm>
          <a:prstGeom prst="rect">
            <a:avLst/>
          </a:prstGeom>
          <a:noFill/>
        </p:spPr>
        <p:txBody>
          <a:bodyPr wrap="none">
            <a:spAutoFit/>
          </a:bodyPr>
          <a:lstStyle/>
          <a:p>
            <a:pPr>
              <a:defRPr sz="900">
                <a:solidFill>
                  <a:srgbClr val="A6B5C9"/>
                </a:solidFill>
                <a:latin typeface="Consolas"/>
              </a:defRPr>
            </a:pPr>
            <a:r>
              <a:t>LOGIN</a:t>
            </a:r>
          </a:p>
        </p:txBody>
      </p:sp>
      <p:sp>
        <p:nvSpPr>
          <p:cNvPr id="13" name="TextBox 12"/>
          <p:cNvSpPr txBox="1"/>
          <p:nvPr/>
        </p:nvSpPr>
        <p:spPr>
          <a:xfrm>
            <a:off x="850392" y="1828800"/>
            <a:ext cx="2971800" cy="3730752"/>
          </a:xfrm>
          <a:prstGeom prst="rect">
            <a:avLst/>
          </a:prstGeom>
          <a:noFill/>
        </p:spPr>
        <p:txBody>
          <a:bodyPr wrap="square">
            <a:spAutoFit/>
          </a:bodyPr>
          <a:lstStyle/>
          <a:p>
            <a:pPr>
              <a:spcAft>
                <a:spcPts val="300"/>
              </a:spcAft>
              <a:defRPr sz="1100">
                <a:solidFill>
                  <a:srgbClr val="F5F8FC"/>
                </a:solidFill>
                <a:latin typeface="Consolas"/>
              </a:defRPr>
            </a:pPr>
            <a:r>
              <a:t>Welcome to Figgy Bank!</a:t>
            </a:r>
          </a:p>
          <a:p>
            <a:pPr>
              <a:spcAft>
                <a:spcPts val="300"/>
              </a:spcAft>
              <a:defRPr sz="1100">
                <a:solidFill>
                  <a:srgbClr val="F5F8FC"/>
                </a:solidFill>
                <a:latin typeface="Consolas"/>
              </a:defRPr>
            </a:pPr>
          </a:p>
          <a:p>
            <a:pPr>
              <a:spcAft>
                <a:spcPts val="300"/>
              </a:spcAft>
              <a:defRPr sz="1100">
                <a:solidFill>
                  <a:srgbClr val="F5F8FC"/>
                </a:solidFill>
                <a:latin typeface="Consolas"/>
              </a:defRPr>
            </a:pPr>
            <a:r>
              <a:t>1. Customer</a:t>
            </a:r>
          </a:p>
          <a:p>
            <a:pPr>
              <a:spcAft>
                <a:spcPts val="300"/>
              </a:spcAft>
              <a:defRPr sz="1100">
                <a:solidFill>
                  <a:srgbClr val="F5F8FC"/>
                </a:solidFill>
                <a:latin typeface="Consolas"/>
              </a:defRPr>
            </a:pPr>
            <a:r>
              <a:t>2. Admin</a:t>
            </a:r>
          </a:p>
          <a:p>
            <a:pPr>
              <a:spcAft>
                <a:spcPts val="300"/>
              </a:spcAft>
              <a:defRPr sz="1100">
                <a:solidFill>
                  <a:srgbClr val="F5F8FC"/>
                </a:solidFill>
                <a:latin typeface="Consolas"/>
              </a:defRPr>
            </a:pPr>
            <a:r>
              <a:t>3. Exit</a:t>
            </a:r>
          </a:p>
          <a:p>
            <a:pPr>
              <a:spcAft>
                <a:spcPts val="300"/>
              </a:spcAft>
              <a:defRPr sz="1100">
                <a:solidFill>
                  <a:srgbClr val="F5F8FC"/>
                </a:solidFill>
                <a:latin typeface="Consolas"/>
              </a:defRPr>
            </a:pPr>
          </a:p>
          <a:p>
            <a:pPr>
              <a:spcAft>
                <a:spcPts val="300"/>
              </a:spcAft>
              <a:defRPr sz="1100">
                <a:solidFill>
                  <a:srgbClr val="F5F8FC"/>
                </a:solidFill>
                <a:latin typeface="Consolas"/>
              </a:defRPr>
            </a:pPr>
            <a:r>
              <a:t>&gt; 1</a:t>
            </a:r>
          </a:p>
          <a:p>
            <a:pPr>
              <a:spcAft>
                <a:spcPts val="300"/>
              </a:spcAft>
              <a:defRPr sz="1100">
                <a:solidFill>
                  <a:srgbClr val="F5F8FC"/>
                </a:solidFill>
                <a:latin typeface="Consolas"/>
              </a:defRPr>
            </a:pPr>
            <a:r>
              <a:t>Username: BigFig</a:t>
            </a:r>
          </a:p>
          <a:p>
            <a:pPr>
              <a:spcAft>
                <a:spcPts val="300"/>
              </a:spcAft>
              <a:defRPr sz="1100">
                <a:solidFill>
                  <a:srgbClr val="F5F8FC"/>
                </a:solidFill>
                <a:latin typeface="Consolas"/>
              </a:defRPr>
            </a:pPr>
            <a:r>
              <a:t>Password: *****</a:t>
            </a:r>
          </a:p>
        </p:txBody>
      </p:sp>
      <p:sp>
        <p:nvSpPr>
          <p:cNvPr id="14" name="Rounded Rectangle 13"/>
          <p:cNvSpPr/>
          <p:nvPr/>
        </p:nvSpPr>
        <p:spPr>
          <a:xfrm>
            <a:off x="4343400" y="1325880"/>
            <a:ext cx="3474720" cy="4389120"/>
          </a:xfrm>
          <a:prstGeom prst="roundRect">
            <a:avLst/>
          </a:prstGeom>
          <a:solidFill>
            <a:srgbClr val="04080F"/>
          </a:solidFill>
          <a:ln>
            <a:solidFill>
              <a:srgbClr val="364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325880"/>
            <a:ext cx="3474720" cy="347472"/>
          </a:xfrm>
          <a:prstGeom prst="rect">
            <a:avLst/>
          </a:prstGeom>
          <a:solidFill>
            <a:srgbClr val="1A1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89704" y="1435607"/>
            <a:ext cx="91440" cy="91440"/>
          </a:xfrm>
          <a:prstGeom prst="ellipse">
            <a:avLst/>
          </a:prstGeom>
          <a:solidFill>
            <a:srgbClr val="F563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700016" y="1435607"/>
            <a:ext cx="91440" cy="9144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910328" y="1435607"/>
            <a:ext cx="91440" cy="9144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389888"/>
            <a:ext cx="2560320" cy="201168"/>
          </a:xfrm>
          <a:prstGeom prst="rect">
            <a:avLst/>
          </a:prstGeom>
          <a:noFill/>
        </p:spPr>
        <p:txBody>
          <a:bodyPr wrap="none">
            <a:spAutoFit/>
          </a:bodyPr>
          <a:lstStyle/>
          <a:p>
            <a:pPr>
              <a:defRPr sz="900">
                <a:solidFill>
                  <a:srgbClr val="A6B5C9"/>
                </a:solidFill>
                <a:latin typeface="Consolas"/>
              </a:defRPr>
            </a:pPr>
            <a:r>
              <a:t>TRANSACTION</a:t>
            </a:r>
          </a:p>
        </p:txBody>
      </p:sp>
      <p:sp>
        <p:nvSpPr>
          <p:cNvPr id="20" name="TextBox 19"/>
          <p:cNvSpPr txBox="1"/>
          <p:nvPr/>
        </p:nvSpPr>
        <p:spPr>
          <a:xfrm>
            <a:off x="4599432" y="1828800"/>
            <a:ext cx="2971800" cy="3730752"/>
          </a:xfrm>
          <a:prstGeom prst="rect">
            <a:avLst/>
          </a:prstGeom>
          <a:noFill/>
        </p:spPr>
        <p:txBody>
          <a:bodyPr wrap="square">
            <a:spAutoFit/>
          </a:bodyPr>
          <a:lstStyle/>
          <a:p>
            <a:pPr>
              <a:spcAft>
                <a:spcPts val="300"/>
              </a:spcAft>
              <a:defRPr sz="1100">
                <a:solidFill>
                  <a:srgbClr val="F5F8FC"/>
                </a:solidFill>
                <a:latin typeface="Consolas"/>
              </a:defRPr>
            </a:pPr>
            <a:r>
              <a:t>---------- WITHDRAW ----------</a:t>
            </a:r>
          </a:p>
          <a:p>
            <a:pPr>
              <a:spcAft>
                <a:spcPts val="300"/>
              </a:spcAft>
              <a:defRPr sz="1100">
                <a:solidFill>
                  <a:srgbClr val="F5F8FC"/>
                </a:solidFill>
                <a:latin typeface="Consolas"/>
              </a:defRPr>
            </a:pPr>
            <a:r>
              <a:t>Account Found: Savings</a:t>
            </a:r>
          </a:p>
          <a:p>
            <a:pPr>
              <a:spcAft>
                <a:spcPts val="300"/>
              </a:spcAft>
              <a:defRPr sz="1100">
                <a:solidFill>
                  <a:srgbClr val="F5F8FC"/>
                </a:solidFill>
                <a:latin typeface="Consolas"/>
              </a:defRPr>
            </a:pPr>
            <a:r>
              <a:t>Current Balance: $500</a:t>
            </a:r>
          </a:p>
          <a:p>
            <a:pPr>
              <a:spcAft>
                <a:spcPts val="300"/>
              </a:spcAft>
              <a:defRPr sz="1100">
                <a:solidFill>
                  <a:srgbClr val="F5F8FC"/>
                </a:solidFill>
                <a:latin typeface="Consolas"/>
              </a:defRPr>
            </a:pPr>
            <a:r>
              <a:t>Enter Amount: 50</a:t>
            </a:r>
          </a:p>
          <a:p>
            <a:pPr>
              <a:spcAft>
                <a:spcPts val="300"/>
              </a:spcAft>
              <a:defRPr sz="1100">
                <a:solidFill>
                  <a:srgbClr val="F5F8FC"/>
                </a:solidFill>
                <a:latin typeface="Consolas"/>
              </a:defRPr>
            </a:pPr>
          </a:p>
          <a:p>
            <a:pPr>
              <a:spcAft>
                <a:spcPts val="300"/>
              </a:spcAft>
              <a:defRPr sz="1100">
                <a:solidFill>
                  <a:srgbClr val="F5F8FC"/>
                </a:solidFill>
                <a:latin typeface="Consolas"/>
              </a:defRPr>
            </a:pPr>
            <a:r>
              <a:t>Successful withdraw!</a:t>
            </a:r>
          </a:p>
          <a:p>
            <a:pPr>
              <a:spcAft>
                <a:spcPts val="300"/>
              </a:spcAft>
              <a:defRPr sz="1100">
                <a:solidFill>
                  <a:srgbClr val="F5F8FC"/>
                </a:solidFill>
                <a:latin typeface="Consolas"/>
              </a:defRPr>
            </a:pPr>
            <a:r>
              <a:t>Remaining Balance: $450</a:t>
            </a:r>
          </a:p>
          <a:p>
            <a:pPr>
              <a:spcAft>
                <a:spcPts val="300"/>
              </a:spcAft>
              <a:defRPr sz="1100">
                <a:solidFill>
                  <a:srgbClr val="F5F8FC"/>
                </a:solidFill>
                <a:latin typeface="Consolas"/>
              </a:defRPr>
            </a:pPr>
          </a:p>
          <a:p>
            <a:pPr>
              <a:spcAft>
                <a:spcPts val="300"/>
              </a:spcAft>
              <a:defRPr sz="1100">
                <a:solidFill>
                  <a:srgbClr val="F5F8FC"/>
                </a:solidFill>
                <a:latin typeface="Consolas"/>
              </a:defRPr>
            </a:pPr>
            <a:r>
              <a:t>[Saved to SQL Server]</a:t>
            </a:r>
          </a:p>
        </p:txBody>
      </p:sp>
      <p:sp>
        <p:nvSpPr>
          <p:cNvPr id="21" name="Rounded Rectangle 20"/>
          <p:cNvSpPr/>
          <p:nvPr/>
        </p:nvSpPr>
        <p:spPr>
          <a:xfrm>
            <a:off x="8092440" y="1325880"/>
            <a:ext cx="3474720" cy="4389120"/>
          </a:xfrm>
          <a:prstGeom prst="roundRect">
            <a:avLst/>
          </a:prstGeom>
          <a:solidFill>
            <a:srgbClr val="04080F"/>
          </a:solidFill>
          <a:ln>
            <a:solidFill>
              <a:srgbClr val="364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2440" y="1325880"/>
            <a:ext cx="3474720" cy="347472"/>
          </a:xfrm>
          <a:prstGeom prst="rect">
            <a:avLst/>
          </a:prstGeom>
          <a:solidFill>
            <a:srgbClr val="1A1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38744" y="1435607"/>
            <a:ext cx="91440" cy="91440"/>
          </a:xfrm>
          <a:prstGeom prst="ellipse">
            <a:avLst/>
          </a:prstGeom>
          <a:solidFill>
            <a:srgbClr val="F563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49056" y="1435607"/>
            <a:ext cx="91440" cy="9144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59368" y="1435607"/>
            <a:ext cx="91440" cy="9144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0" y="1389888"/>
            <a:ext cx="2560320" cy="201168"/>
          </a:xfrm>
          <a:prstGeom prst="rect">
            <a:avLst/>
          </a:prstGeom>
          <a:noFill/>
        </p:spPr>
        <p:txBody>
          <a:bodyPr wrap="none">
            <a:spAutoFit/>
          </a:bodyPr>
          <a:lstStyle/>
          <a:p>
            <a:pPr>
              <a:defRPr sz="900">
                <a:solidFill>
                  <a:srgbClr val="A6B5C9"/>
                </a:solidFill>
                <a:latin typeface="Consolas"/>
              </a:defRPr>
            </a:pPr>
            <a:r>
              <a:t>REQUEST</a:t>
            </a:r>
          </a:p>
        </p:txBody>
      </p:sp>
      <p:sp>
        <p:nvSpPr>
          <p:cNvPr id="27" name="TextBox 26"/>
          <p:cNvSpPr txBox="1"/>
          <p:nvPr/>
        </p:nvSpPr>
        <p:spPr>
          <a:xfrm>
            <a:off x="8348471" y="1828800"/>
            <a:ext cx="2971800" cy="3730752"/>
          </a:xfrm>
          <a:prstGeom prst="rect">
            <a:avLst/>
          </a:prstGeom>
          <a:noFill/>
        </p:spPr>
        <p:txBody>
          <a:bodyPr wrap="square">
            <a:spAutoFit/>
          </a:bodyPr>
          <a:lstStyle/>
          <a:p>
            <a:pPr>
              <a:spcAft>
                <a:spcPts val="300"/>
              </a:spcAft>
              <a:defRPr sz="1100">
                <a:solidFill>
                  <a:srgbClr val="F5F8FC"/>
                </a:solidFill>
                <a:latin typeface="Consolas"/>
              </a:defRPr>
            </a:pPr>
            <a:r>
              <a:t>CHEQUE BOOK REQUEST</a:t>
            </a:r>
          </a:p>
          <a:p>
            <a:pPr>
              <a:spcAft>
                <a:spcPts val="300"/>
              </a:spcAft>
              <a:defRPr sz="1100">
                <a:solidFill>
                  <a:srgbClr val="F5F8FC"/>
                </a:solidFill>
                <a:latin typeface="Consolas"/>
              </a:defRPr>
            </a:pPr>
          </a:p>
          <a:p>
            <a:pPr>
              <a:spcAft>
                <a:spcPts val="300"/>
              </a:spcAft>
              <a:defRPr sz="1100">
                <a:solidFill>
                  <a:srgbClr val="F5F8FC"/>
                </a:solidFill>
                <a:latin typeface="Consolas"/>
              </a:defRPr>
            </a:pPr>
            <a:r>
              <a:t>Account: 111</a:t>
            </a:r>
          </a:p>
          <a:p>
            <a:pPr>
              <a:spcAft>
                <a:spcPts val="300"/>
              </a:spcAft>
              <a:defRPr sz="1100">
                <a:solidFill>
                  <a:srgbClr val="F5F8FC"/>
                </a:solidFill>
                <a:latin typeface="Consolas"/>
              </a:defRPr>
            </a:pPr>
            <a:r>
              <a:t>Status: Pending</a:t>
            </a:r>
          </a:p>
          <a:p>
            <a:pPr>
              <a:spcAft>
                <a:spcPts val="300"/>
              </a:spcAft>
              <a:defRPr sz="1100">
                <a:solidFill>
                  <a:srgbClr val="F5F8FC"/>
                </a:solidFill>
                <a:latin typeface="Consolas"/>
              </a:defRPr>
            </a:pPr>
            <a:r>
              <a:t>RequestID: 4</a:t>
            </a:r>
          </a:p>
          <a:p>
            <a:pPr>
              <a:spcAft>
                <a:spcPts val="300"/>
              </a:spcAft>
              <a:defRPr sz="1100">
                <a:solidFill>
                  <a:srgbClr val="F5F8FC"/>
                </a:solidFill>
                <a:latin typeface="Consolas"/>
              </a:defRPr>
            </a:pPr>
          </a:p>
          <a:p>
            <a:pPr>
              <a:spcAft>
                <a:spcPts val="300"/>
              </a:spcAft>
              <a:defRPr sz="1100">
                <a:solidFill>
                  <a:srgbClr val="F5F8FC"/>
                </a:solidFill>
                <a:latin typeface="Consolas"/>
              </a:defRPr>
            </a:pPr>
            <a:r>
              <a:t>Admin Review:</a:t>
            </a:r>
          </a:p>
          <a:p>
            <a:pPr>
              <a:spcAft>
                <a:spcPts val="300"/>
              </a:spcAft>
              <a:defRPr sz="1100">
                <a:solidFill>
                  <a:srgbClr val="F5F8FC"/>
                </a:solidFill>
                <a:latin typeface="Consolas"/>
              </a:defRPr>
            </a:pPr>
            <a:r>
              <a:t>Request 4 → Approved</a:t>
            </a:r>
          </a:p>
          <a:p>
            <a:pPr>
              <a:spcAft>
                <a:spcPts val="300"/>
              </a:spcAft>
              <a:defRPr sz="1100">
                <a:solidFill>
                  <a:srgbClr val="F5F8FC"/>
                </a:solidFill>
                <a:latin typeface="Consolas"/>
              </a:defRPr>
            </a:pPr>
          </a:p>
          <a:p>
            <a:pPr>
              <a:spcAft>
                <a:spcPts val="300"/>
              </a:spcAft>
              <a:defRPr sz="1100">
                <a:solidFill>
                  <a:srgbClr val="F5F8FC"/>
                </a:solidFill>
                <a:latin typeface="Consolas"/>
              </a:defRPr>
            </a:pPr>
            <a:r>
              <a:t>[Status persisted]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A Feature I Improved: Password Reset</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Turning a simple reset into a state-driven workflow</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10</a:t>
            </a:r>
          </a:p>
        </p:txBody>
      </p:sp>
      <p:sp>
        <p:nvSpPr>
          <p:cNvPr id="7" name="Rounded Rectangle 6"/>
          <p:cNvSpPr/>
          <p:nvPr/>
        </p:nvSpPr>
        <p:spPr>
          <a:xfrm>
            <a:off x="594360" y="1508760"/>
            <a:ext cx="2011680" cy="3200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5528" y="1691639"/>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673351"/>
            <a:ext cx="411480" cy="411480"/>
          </a:xfrm>
          <a:prstGeom prst="rect">
            <a:avLst/>
          </a:prstGeom>
          <a:noFill/>
        </p:spPr>
        <p:txBody>
          <a:bodyPr wrap="none">
            <a:spAutoFit/>
          </a:bodyPr>
          <a:lstStyle/>
          <a:p>
            <a:pPr algn="ctr">
              <a:defRPr sz="1600" b="1">
                <a:solidFill>
                  <a:srgbClr val="081224"/>
                </a:solidFill>
              </a:defRPr>
            </a:pPr>
            <a:r>
              <a:t>1</a:t>
            </a:r>
          </a:p>
        </p:txBody>
      </p:sp>
      <p:sp>
        <p:nvSpPr>
          <p:cNvPr id="10" name="TextBox 9"/>
          <p:cNvSpPr txBox="1"/>
          <p:nvPr/>
        </p:nvSpPr>
        <p:spPr>
          <a:xfrm>
            <a:off x="1325880" y="1691639"/>
            <a:ext cx="1051560" cy="411480"/>
          </a:xfrm>
          <a:prstGeom prst="rect">
            <a:avLst/>
          </a:prstGeom>
          <a:noFill/>
        </p:spPr>
        <p:txBody>
          <a:bodyPr wrap="none">
            <a:spAutoFit/>
          </a:bodyPr>
          <a:lstStyle/>
          <a:p>
            <a:pPr>
              <a:defRPr sz="1600" b="1">
                <a:solidFill>
                  <a:srgbClr val="F5F8FC"/>
                </a:solidFill>
                <a:latin typeface="Aptos"/>
              </a:defRPr>
            </a:pPr>
            <a:r>
              <a:t>Admin Reset</a:t>
            </a:r>
          </a:p>
        </p:txBody>
      </p:sp>
      <p:sp>
        <p:nvSpPr>
          <p:cNvPr id="11" name="TextBox 10"/>
          <p:cNvSpPr txBox="1"/>
          <p:nvPr/>
        </p:nvSpPr>
        <p:spPr>
          <a:xfrm>
            <a:off x="850392" y="2221991"/>
            <a:ext cx="1499616" cy="2331720"/>
          </a:xfrm>
          <a:prstGeom prst="rect">
            <a:avLst/>
          </a:prstGeom>
          <a:noFill/>
        </p:spPr>
        <p:txBody>
          <a:bodyPr wrap="square">
            <a:spAutoFit/>
          </a:bodyPr>
          <a:lstStyle/>
          <a:p>
            <a:pPr>
              <a:spcAft>
                <a:spcPts val="500"/>
              </a:spcAft>
              <a:defRPr sz="1150">
                <a:solidFill>
                  <a:srgbClr val="A6B5C9"/>
                </a:solidFill>
                <a:latin typeface="Aptos"/>
              </a:defRPr>
            </a:pPr>
            <a:r>
              <a:t>Generate 5-character temporary password</a:t>
            </a:r>
          </a:p>
        </p:txBody>
      </p:sp>
      <p:sp>
        <p:nvSpPr>
          <p:cNvPr id="12" name="Rounded Rectangle 11"/>
          <p:cNvSpPr/>
          <p:nvPr/>
        </p:nvSpPr>
        <p:spPr>
          <a:xfrm>
            <a:off x="2880360" y="1508760"/>
            <a:ext cx="2011680" cy="3200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81528" y="1691639"/>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81528" y="1673351"/>
            <a:ext cx="411480" cy="411480"/>
          </a:xfrm>
          <a:prstGeom prst="rect">
            <a:avLst/>
          </a:prstGeom>
          <a:noFill/>
        </p:spPr>
        <p:txBody>
          <a:bodyPr wrap="none">
            <a:spAutoFit/>
          </a:bodyPr>
          <a:lstStyle/>
          <a:p>
            <a:pPr algn="ctr">
              <a:defRPr sz="1600" b="1">
                <a:solidFill>
                  <a:srgbClr val="081224"/>
                </a:solidFill>
              </a:defRPr>
            </a:pPr>
            <a:r>
              <a:t>2</a:t>
            </a:r>
          </a:p>
        </p:txBody>
      </p:sp>
      <p:sp>
        <p:nvSpPr>
          <p:cNvPr id="15" name="TextBox 14"/>
          <p:cNvSpPr txBox="1"/>
          <p:nvPr/>
        </p:nvSpPr>
        <p:spPr>
          <a:xfrm>
            <a:off x="3611880" y="1691639"/>
            <a:ext cx="1051560" cy="411480"/>
          </a:xfrm>
          <a:prstGeom prst="rect">
            <a:avLst/>
          </a:prstGeom>
          <a:noFill/>
        </p:spPr>
        <p:txBody>
          <a:bodyPr wrap="none">
            <a:spAutoFit/>
          </a:bodyPr>
          <a:lstStyle/>
          <a:p>
            <a:pPr>
              <a:defRPr sz="1600" b="1">
                <a:solidFill>
                  <a:srgbClr val="F5F8FC"/>
                </a:solidFill>
                <a:latin typeface="Aptos"/>
              </a:defRPr>
            </a:pPr>
            <a:r>
              <a:t>Persist</a:t>
            </a:r>
          </a:p>
        </p:txBody>
      </p:sp>
      <p:sp>
        <p:nvSpPr>
          <p:cNvPr id="16" name="TextBox 15"/>
          <p:cNvSpPr txBox="1"/>
          <p:nvPr/>
        </p:nvSpPr>
        <p:spPr>
          <a:xfrm>
            <a:off x="3136391" y="2221991"/>
            <a:ext cx="1499616" cy="2331720"/>
          </a:xfrm>
          <a:prstGeom prst="rect">
            <a:avLst/>
          </a:prstGeom>
          <a:noFill/>
        </p:spPr>
        <p:txBody>
          <a:bodyPr wrap="square">
            <a:spAutoFit/>
          </a:bodyPr>
          <a:lstStyle/>
          <a:p>
            <a:pPr>
              <a:spcAft>
                <a:spcPts val="500"/>
              </a:spcAft>
              <a:defRPr sz="1150">
                <a:solidFill>
                  <a:srgbClr val="A6B5C9"/>
                </a:solidFill>
                <a:latin typeface="Aptos"/>
              </a:defRPr>
            </a:pPr>
            <a:r>
              <a:t>Save password + MustChangePassword = true</a:t>
            </a:r>
          </a:p>
        </p:txBody>
      </p:sp>
      <p:sp>
        <p:nvSpPr>
          <p:cNvPr id="17" name="Rounded Rectangle 16"/>
          <p:cNvSpPr/>
          <p:nvPr/>
        </p:nvSpPr>
        <p:spPr>
          <a:xfrm>
            <a:off x="5166360" y="1508760"/>
            <a:ext cx="2011680" cy="3200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67528" y="1691639"/>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67528" y="1673351"/>
            <a:ext cx="411480" cy="411480"/>
          </a:xfrm>
          <a:prstGeom prst="rect">
            <a:avLst/>
          </a:prstGeom>
          <a:noFill/>
        </p:spPr>
        <p:txBody>
          <a:bodyPr wrap="none">
            <a:spAutoFit/>
          </a:bodyPr>
          <a:lstStyle/>
          <a:p>
            <a:pPr algn="ctr">
              <a:defRPr sz="1600" b="1">
                <a:solidFill>
                  <a:srgbClr val="081224"/>
                </a:solidFill>
              </a:defRPr>
            </a:pPr>
            <a:r>
              <a:t>3</a:t>
            </a:r>
          </a:p>
        </p:txBody>
      </p:sp>
      <p:sp>
        <p:nvSpPr>
          <p:cNvPr id="20" name="TextBox 19"/>
          <p:cNvSpPr txBox="1"/>
          <p:nvPr/>
        </p:nvSpPr>
        <p:spPr>
          <a:xfrm>
            <a:off x="5897880" y="1691639"/>
            <a:ext cx="1051560" cy="411480"/>
          </a:xfrm>
          <a:prstGeom prst="rect">
            <a:avLst/>
          </a:prstGeom>
          <a:noFill/>
        </p:spPr>
        <p:txBody>
          <a:bodyPr wrap="none">
            <a:spAutoFit/>
          </a:bodyPr>
          <a:lstStyle/>
          <a:p>
            <a:pPr>
              <a:defRPr sz="1600" b="1">
                <a:solidFill>
                  <a:srgbClr val="F5F8FC"/>
                </a:solidFill>
                <a:latin typeface="Aptos"/>
              </a:defRPr>
            </a:pPr>
            <a:r>
              <a:t>Customer Login</a:t>
            </a:r>
          </a:p>
        </p:txBody>
      </p:sp>
      <p:sp>
        <p:nvSpPr>
          <p:cNvPr id="21" name="TextBox 20"/>
          <p:cNvSpPr txBox="1"/>
          <p:nvPr/>
        </p:nvSpPr>
        <p:spPr>
          <a:xfrm>
            <a:off x="5422392" y="2221991"/>
            <a:ext cx="1499616" cy="2331720"/>
          </a:xfrm>
          <a:prstGeom prst="rect">
            <a:avLst/>
          </a:prstGeom>
          <a:noFill/>
        </p:spPr>
        <p:txBody>
          <a:bodyPr wrap="square">
            <a:spAutoFit/>
          </a:bodyPr>
          <a:lstStyle/>
          <a:p>
            <a:pPr>
              <a:spcAft>
                <a:spcPts val="500"/>
              </a:spcAft>
              <a:defRPr sz="1150">
                <a:solidFill>
                  <a:srgbClr val="A6B5C9"/>
                </a:solidFill>
                <a:latin typeface="Aptos"/>
              </a:defRPr>
            </a:pPr>
            <a:r>
              <a:t>Temporary password authenticates customer</a:t>
            </a:r>
          </a:p>
        </p:txBody>
      </p:sp>
      <p:sp>
        <p:nvSpPr>
          <p:cNvPr id="22" name="Rounded Rectangle 21"/>
          <p:cNvSpPr/>
          <p:nvPr/>
        </p:nvSpPr>
        <p:spPr>
          <a:xfrm>
            <a:off x="7452360" y="1508760"/>
            <a:ext cx="2011680" cy="3200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53528" y="1691639"/>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528" y="1673351"/>
            <a:ext cx="411480" cy="411480"/>
          </a:xfrm>
          <a:prstGeom prst="rect">
            <a:avLst/>
          </a:prstGeom>
          <a:noFill/>
        </p:spPr>
        <p:txBody>
          <a:bodyPr wrap="none">
            <a:spAutoFit/>
          </a:bodyPr>
          <a:lstStyle/>
          <a:p>
            <a:pPr algn="ctr">
              <a:defRPr sz="1600" b="1">
                <a:solidFill>
                  <a:srgbClr val="081224"/>
                </a:solidFill>
              </a:defRPr>
            </a:pPr>
            <a:r>
              <a:t>4</a:t>
            </a:r>
          </a:p>
        </p:txBody>
      </p:sp>
      <p:sp>
        <p:nvSpPr>
          <p:cNvPr id="25" name="TextBox 24"/>
          <p:cNvSpPr txBox="1"/>
          <p:nvPr/>
        </p:nvSpPr>
        <p:spPr>
          <a:xfrm>
            <a:off x="8183880" y="1691639"/>
            <a:ext cx="1051559" cy="411480"/>
          </a:xfrm>
          <a:prstGeom prst="rect">
            <a:avLst/>
          </a:prstGeom>
          <a:noFill/>
        </p:spPr>
        <p:txBody>
          <a:bodyPr wrap="none">
            <a:spAutoFit/>
          </a:bodyPr>
          <a:lstStyle/>
          <a:p>
            <a:pPr>
              <a:defRPr sz="1600" b="1">
                <a:solidFill>
                  <a:srgbClr val="F5F8FC"/>
                </a:solidFill>
                <a:latin typeface="Aptos"/>
              </a:defRPr>
            </a:pPr>
            <a:r>
              <a:t>Force Change</a:t>
            </a:r>
          </a:p>
        </p:txBody>
      </p:sp>
      <p:sp>
        <p:nvSpPr>
          <p:cNvPr id="26" name="TextBox 25"/>
          <p:cNvSpPr txBox="1"/>
          <p:nvPr/>
        </p:nvSpPr>
        <p:spPr>
          <a:xfrm>
            <a:off x="7708392" y="2221991"/>
            <a:ext cx="1499616" cy="2331720"/>
          </a:xfrm>
          <a:prstGeom prst="rect">
            <a:avLst/>
          </a:prstGeom>
          <a:noFill/>
        </p:spPr>
        <p:txBody>
          <a:bodyPr wrap="square">
            <a:spAutoFit/>
          </a:bodyPr>
          <a:lstStyle/>
          <a:p>
            <a:pPr>
              <a:spcAft>
                <a:spcPts val="500"/>
              </a:spcAft>
              <a:defRPr sz="1150">
                <a:solidFill>
                  <a:srgbClr val="A6B5C9"/>
                </a:solidFill>
                <a:latin typeface="Aptos"/>
              </a:defRPr>
            </a:pPr>
            <a:r>
              <a:t>Flag requires new password before menu access</a:t>
            </a:r>
          </a:p>
        </p:txBody>
      </p:sp>
      <p:sp>
        <p:nvSpPr>
          <p:cNvPr id="27" name="Rounded Rectangle 26"/>
          <p:cNvSpPr/>
          <p:nvPr/>
        </p:nvSpPr>
        <p:spPr>
          <a:xfrm>
            <a:off x="9738360" y="1508760"/>
            <a:ext cx="2011680" cy="320040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39528" y="1691639"/>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39528" y="1673351"/>
            <a:ext cx="411480" cy="411480"/>
          </a:xfrm>
          <a:prstGeom prst="rect">
            <a:avLst/>
          </a:prstGeom>
          <a:noFill/>
        </p:spPr>
        <p:txBody>
          <a:bodyPr wrap="none">
            <a:spAutoFit/>
          </a:bodyPr>
          <a:lstStyle/>
          <a:p>
            <a:pPr algn="ctr">
              <a:defRPr sz="1600" b="1">
                <a:solidFill>
                  <a:srgbClr val="081224"/>
                </a:solidFill>
              </a:defRPr>
            </a:pPr>
            <a:r>
              <a:t>5</a:t>
            </a:r>
          </a:p>
        </p:txBody>
      </p:sp>
      <p:sp>
        <p:nvSpPr>
          <p:cNvPr id="30" name="TextBox 29"/>
          <p:cNvSpPr txBox="1"/>
          <p:nvPr/>
        </p:nvSpPr>
        <p:spPr>
          <a:xfrm>
            <a:off x="10469880" y="1691639"/>
            <a:ext cx="1051559" cy="411480"/>
          </a:xfrm>
          <a:prstGeom prst="rect">
            <a:avLst/>
          </a:prstGeom>
          <a:noFill/>
        </p:spPr>
        <p:txBody>
          <a:bodyPr wrap="none">
            <a:spAutoFit/>
          </a:bodyPr>
          <a:lstStyle/>
          <a:p>
            <a:pPr>
              <a:defRPr sz="1600" b="1">
                <a:solidFill>
                  <a:srgbClr val="F5F8FC"/>
                </a:solidFill>
                <a:latin typeface="Aptos"/>
              </a:defRPr>
            </a:pPr>
            <a:r>
              <a:t>Complete</a:t>
            </a:r>
          </a:p>
        </p:txBody>
      </p:sp>
      <p:sp>
        <p:nvSpPr>
          <p:cNvPr id="31" name="TextBox 30"/>
          <p:cNvSpPr txBox="1"/>
          <p:nvPr/>
        </p:nvSpPr>
        <p:spPr>
          <a:xfrm>
            <a:off x="9994392" y="2221991"/>
            <a:ext cx="1499616" cy="2331720"/>
          </a:xfrm>
          <a:prstGeom prst="rect">
            <a:avLst/>
          </a:prstGeom>
          <a:noFill/>
        </p:spPr>
        <p:txBody>
          <a:bodyPr wrap="square">
            <a:spAutoFit/>
          </a:bodyPr>
          <a:lstStyle/>
          <a:p>
            <a:pPr>
              <a:spcAft>
                <a:spcPts val="500"/>
              </a:spcAft>
              <a:defRPr sz="1150">
                <a:solidFill>
                  <a:srgbClr val="A6B5C9"/>
                </a:solidFill>
                <a:latin typeface="Aptos"/>
              </a:defRPr>
            </a:pPr>
            <a:r>
              <a:t>Save new password + set flag to false</a:t>
            </a:r>
          </a:p>
        </p:txBody>
      </p:sp>
      <p:sp>
        <p:nvSpPr>
          <p:cNvPr id="32" name="TextBox 31"/>
          <p:cNvSpPr txBox="1"/>
          <p:nvPr/>
        </p:nvSpPr>
        <p:spPr>
          <a:xfrm>
            <a:off x="1828800" y="5166360"/>
            <a:ext cx="8503920" cy="731520"/>
          </a:xfrm>
          <a:prstGeom prst="rect">
            <a:avLst/>
          </a:prstGeom>
          <a:noFill/>
        </p:spPr>
        <p:txBody>
          <a:bodyPr wrap="none">
            <a:spAutoFit/>
          </a:bodyPr>
          <a:lstStyle/>
          <a:p>
            <a:pPr algn="ctr">
              <a:defRPr sz="1500" i="1">
                <a:solidFill>
                  <a:srgbClr val="A6B5C9"/>
                </a:solidFill>
              </a:defRPr>
            </a:pPr>
            <a:r>
              <a:t>Production improvement: hash passwords and use cryptographically secure reset tokens.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41480" y="0"/>
            <a:ext cx="347472" cy="6858000"/>
          </a:xfrm>
          <a:prstGeom prst="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698480" cy="640080"/>
          </a:xfrm>
          <a:prstGeom prst="rect">
            <a:avLst/>
          </a:prstGeom>
          <a:noFill/>
        </p:spPr>
        <p:txBody>
          <a:bodyPr wrap="none">
            <a:spAutoFit/>
          </a:bodyPr>
          <a:lstStyle/>
          <a:p>
            <a:pPr>
              <a:defRPr sz="2800" b="1">
                <a:solidFill>
                  <a:srgbClr val="F5F8FC"/>
                </a:solidFill>
                <a:latin typeface="Aptos Display"/>
              </a:defRPr>
            </a:pPr>
            <a:r>
              <a:t>Future Enhancements</a:t>
            </a:r>
          </a:p>
        </p:txBody>
      </p:sp>
      <p:sp>
        <p:nvSpPr>
          <p:cNvPr id="5" name="TextBox 4"/>
          <p:cNvSpPr txBox="1"/>
          <p:nvPr/>
        </p:nvSpPr>
        <p:spPr>
          <a:xfrm>
            <a:off x="621792" y="932688"/>
            <a:ext cx="10241280" cy="365760"/>
          </a:xfrm>
          <a:prstGeom prst="rect">
            <a:avLst/>
          </a:prstGeom>
          <a:noFill/>
        </p:spPr>
        <p:txBody>
          <a:bodyPr wrap="none">
            <a:spAutoFit/>
          </a:bodyPr>
          <a:lstStyle/>
          <a:p>
            <a:pPr>
              <a:defRPr sz="1200">
                <a:solidFill>
                  <a:srgbClr val="A6B5C9"/>
                </a:solidFill>
                <a:latin typeface="Aptos"/>
              </a:defRPr>
            </a:pPr>
            <a:r>
              <a:t>Where I would take Figgy Bank next</a:t>
            </a:r>
          </a:p>
        </p:txBody>
      </p:sp>
      <p:sp>
        <p:nvSpPr>
          <p:cNvPr id="6" name="TextBox 5"/>
          <p:cNvSpPr txBox="1"/>
          <p:nvPr/>
        </p:nvSpPr>
        <p:spPr>
          <a:xfrm>
            <a:off x="11201400" y="365760"/>
            <a:ext cx="411480" cy="320040"/>
          </a:xfrm>
          <a:prstGeom prst="rect">
            <a:avLst/>
          </a:prstGeom>
          <a:noFill/>
        </p:spPr>
        <p:txBody>
          <a:bodyPr wrap="none">
            <a:spAutoFit/>
          </a:bodyPr>
          <a:lstStyle/>
          <a:p>
            <a:pPr algn="r">
              <a:defRPr sz="1100" b="1">
                <a:solidFill>
                  <a:srgbClr val="26C6DA"/>
                </a:solidFill>
                <a:latin typeface="Aptos"/>
              </a:defRPr>
            </a:pPr>
            <a:r>
              <a:t>11</a:t>
            </a:r>
          </a:p>
        </p:txBody>
      </p:sp>
      <p:sp>
        <p:nvSpPr>
          <p:cNvPr id="7" name="Rounded Rectangle 6"/>
          <p:cNvSpPr/>
          <p:nvPr/>
        </p:nvSpPr>
        <p:spPr>
          <a:xfrm>
            <a:off x="731520" y="1325880"/>
            <a:ext cx="3337560" cy="17830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150876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490472"/>
            <a:ext cx="411480" cy="411480"/>
          </a:xfrm>
          <a:prstGeom prst="rect">
            <a:avLst/>
          </a:prstGeom>
          <a:noFill/>
        </p:spPr>
        <p:txBody>
          <a:bodyPr wrap="none">
            <a:spAutoFit/>
          </a:bodyPr>
          <a:lstStyle/>
          <a:p>
            <a:pPr algn="ctr">
              <a:defRPr sz="1600" b="1">
                <a:solidFill>
                  <a:srgbClr val="081224"/>
                </a:solidFill>
              </a:defRPr>
            </a:pPr>
            <a:r>
              <a:t>+</a:t>
            </a:r>
          </a:p>
        </p:txBody>
      </p:sp>
      <p:sp>
        <p:nvSpPr>
          <p:cNvPr id="10" name="TextBox 9"/>
          <p:cNvSpPr txBox="1"/>
          <p:nvPr/>
        </p:nvSpPr>
        <p:spPr>
          <a:xfrm>
            <a:off x="1463040" y="1508760"/>
            <a:ext cx="2377439" cy="411480"/>
          </a:xfrm>
          <a:prstGeom prst="rect">
            <a:avLst/>
          </a:prstGeom>
          <a:noFill/>
        </p:spPr>
        <p:txBody>
          <a:bodyPr wrap="none">
            <a:spAutoFit/>
          </a:bodyPr>
          <a:lstStyle/>
          <a:p>
            <a:pPr>
              <a:defRPr sz="1600" b="1">
                <a:solidFill>
                  <a:srgbClr val="F5F8FC"/>
                </a:solidFill>
                <a:latin typeface="Aptos"/>
              </a:defRPr>
            </a:pPr>
            <a:r>
              <a:t>Customer Onboarding</a:t>
            </a:r>
          </a:p>
        </p:txBody>
      </p:sp>
      <p:sp>
        <p:nvSpPr>
          <p:cNvPr id="11" name="TextBox 10"/>
          <p:cNvSpPr txBox="1"/>
          <p:nvPr/>
        </p:nvSpPr>
        <p:spPr>
          <a:xfrm>
            <a:off x="987552" y="2039112"/>
            <a:ext cx="2825496" cy="914400"/>
          </a:xfrm>
          <a:prstGeom prst="rect">
            <a:avLst/>
          </a:prstGeom>
          <a:noFill/>
        </p:spPr>
        <p:txBody>
          <a:bodyPr wrap="square">
            <a:spAutoFit/>
          </a:bodyPr>
          <a:lstStyle/>
          <a:p>
            <a:pPr>
              <a:spcAft>
                <a:spcPts val="500"/>
              </a:spcAft>
              <a:defRPr sz="1150">
                <a:solidFill>
                  <a:srgbClr val="A6B5C9"/>
                </a:solidFill>
                <a:latin typeface="Aptos"/>
              </a:defRPr>
            </a:pPr>
            <a:r>
              <a:t>Create new customers, credentials, and their first accounts.</a:t>
            </a:r>
          </a:p>
        </p:txBody>
      </p:sp>
      <p:sp>
        <p:nvSpPr>
          <p:cNvPr id="12" name="Rounded Rectangle 11"/>
          <p:cNvSpPr/>
          <p:nvPr/>
        </p:nvSpPr>
        <p:spPr>
          <a:xfrm>
            <a:off x="4480559" y="1325880"/>
            <a:ext cx="3337560" cy="17830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81727" y="1508760"/>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1490472"/>
            <a:ext cx="411480" cy="411480"/>
          </a:xfrm>
          <a:prstGeom prst="rect">
            <a:avLst/>
          </a:prstGeom>
          <a:noFill/>
        </p:spPr>
        <p:txBody>
          <a:bodyPr wrap="none">
            <a:spAutoFit/>
          </a:bodyPr>
          <a:lstStyle/>
          <a:p>
            <a:pPr algn="ctr">
              <a:defRPr sz="1600" b="1">
                <a:solidFill>
                  <a:srgbClr val="081224"/>
                </a:solidFill>
              </a:defRPr>
            </a:pPr>
            <a:r>
              <a:t>S</a:t>
            </a:r>
          </a:p>
        </p:txBody>
      </p:sp>
      <p:sp>
        <p:nvSpPr>
          <p:cNvPr id="15" name="TextBox 14"/>
          <p:cNvSpPr txBox="1"/>
          <p:nvPr/>
        </p:nvSpPr>
        <p:spPr>
          <a:xfrm>
            <a:off x="5212079" y="1508760"/>
            <a:ext cx="2377440" cy="411480"/>
          </a:xfrm>
          <a:prstGeom prst="rect">
            <a:avLst/>
          </a:prstGeom>
          <a:noFill/>
        </p:spPr>
        <p:txBody>
          <a:bodyPr wrap="none">
            <a:spAutoFit/>
          </a:bodyPr>
          <a:lstStyle/>
          <a:p>
            <a:pPr>
              <a:defRPr sz="1600" b="1">
                <a:solidFill>
                  <a:srgbClr val="F5F8FC"/>
                </a:solidFill>
                <a:latin typeface="Aptos"/>
              </a:defRPr>
            </a:pPr>
            <a:r>
              <a:t>Security Hardening</a:t>
            </a:r>
          </a:p>
        </p:txBody>
      </p:sp>
      <p:sp>
        <p:nvSpPr>
          <p:cNvPr id="16" name="TextBox 15"/>
          <p:cNvSpPr txBox="1"/>
          <p:nvPr/>
        </p:nvSpPr>
        <p:spPr>
          <a:xfrm>
            <a:off x="4736592" y="2039112"/>
            <a:ext cx="2825496" cy="914400"/>
          </a:xfrm>
          <a:prstGeom prst="rect">
            <a:avLst/>
          </a:prstGeom>
          <a:noFill/>
        </p:spPr>
        <p:txBody>
          <a:bodyPr wrap="square">
            <a:spAutoFit/>
          </a:bodyPr>
          <a:lstStyle/>
          <a:p>
            <a:pPr>
              <a:spcAft>
                <a:spcPts val="500"/>
              </a:spcAft>
              <a:defRPr sz="1150">
                <a:solidFill>
                  <a:srgbClr val="A6B5C9"/>
                </a:solidFill>
                <a:latin typeface="Aptos"/>
              </a:defRPr>
            </a:pPr>
            <a:r>
              <a:t>Password hashing, secure reset tokens, lockouts, roles, and audit logs.</a:t>
            </a:r>
          </a:p>
        </p:txBody>
      </p:sp>
      <p:sp>
        <p:nvSpPr>
          <p:cNvPr id="17" name="Rounded Rectangle 16"/>
          <p:cNvSpPr/>
          <p:nvPr/>
        </p:nvSpPr>
        <p:spPr>
          <a:xfrm>
            <a:off x="8229600" y="1325880"/>
            <a:ext cx="3337560" cy="17830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8" y="1508760"/>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0768" y="1490472"/>
            <a:ext cx="411480" cy="411480"/>
          </a:xfrm>
          <a:prstGeom prst="rect">
            <a:avLst/>
          </a:prstGeom>
          <a:noFill/>
        </p:spPr>
        <p:txBody>
          <a:bodyPr wrap="none">
            <a:spAutoFit/>
          </a:bodyPr>
          <a:lstStyle/>
          <a:p>
            <a:pPr algn="ctr">
              <a:defRPr sz="1600" b="1">
                <a:solidFill>
                  <a:srgbClr val="081224"/>
                </a:solidFill>
              </a:defRPr>
            </a:pPr>
            <a:r>
              <a:t>$</a:t>
            </a:r>
          </a:p>
        </p:txBody>
      </p:sp>
      <p:sp>
        <p:nvSpPr>
          <p:cNvPr id="20" name="TextBox 19"/>
          <p:cNvSpPr txBox="1"/>
          <p:nvPr/>
        </p:nvSpPr>
        <p:spPr>
          <a:xfrm>
            <a:off x="8961120" y="1508760"/>
            <a:ext cx="2377439" cy="411480"/>
          </a:xfrm>
          <a:prstGeom prst="rect">
            <a:avLst/>
          </a:prstGeom>
          <a:noFill/>
        </p:spPr>
        <p:txBody>
          <a:bodyPr wrap="none">
            <a:spAutoFit/>
          </a:bodyPr>
          <a:lstStyle/>
          <a:p>
            <a:pPr>
              <a:defRPr sz="1600" b="1">
                <a:solidFill>
                  <a:srgbClr val="F5F8FC"/>
                </a:solidFill>
                <a:latin typeface="Aptos"/>
              </a:defRPr>
            </a:pPr>
            <a:r>
              <a:t>Better Transactions</a:t>
            </a:r>
          </a:p>
        </p:txBody>
      </p:sp>
      <p:sp>
        <p:nvSpPr>
          <p:cNvPr id="21" name="TextBox 20"/>
          <p:cNvSpPr txBox="1"/>
          <p:nvPr/>
        </p:nvSpPr>
        <p:spPr>
          <a:xfrm>
            <a:off x="8485632" y="2039112"/>
            <a:ext cx="2825496" cy="914400"/>
          </a:xfrm>
          <a:prstGeom prst="rect">
            <a:avLst/>
          </a:prstGeom>
          <a:noFill/>
        </p:spPr>
        <p:txBody>
          <a:bodyPr wrap="square">
            <a:spAutoFit/>
          </a:bodyPr>
          <a:lstStyle/>
          <a:p>
            <a:pPr>
              <a:spcAft>
                <a:spcPts val="500"/>
              </a:spcAft>
              <a:defRPr sz="1150">
                <a:solidFill>
                  <a:srgbClr val="A6B5C9"/>
                </a:solidFill>
                <a:latin typeface="Aptos"/>
              </a:defRPr>
            </a:pPr>
            <a:r>
              <a:t>Use decimal for money, richer transfer records, and explicit transaction handling.</a:t>
            </a:r>
          </a:p>
        </p:txBody>
      </p:sp>
      <p:sp>
        <p:nvSpPr>
          <p:cNvPr id="22" name="Rounded Rectangle 21"/>
          <p:cNvSpPr/>
          <p:nvPr/>
        </p:nvSpPr>
        <p:spPr>
          <a:xfrm>
            <a:off x="731520" y="3474720"/>
            <a:ext cx="3337560" cy="17830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2688" y="3657600"/>
            <a:ext cx="411480" cy="411480"/>
          </a:xfrm>
          <a:prstGeom prst="ellipse">
            <a:avLst/>
          </a:prstGeom>
          <a:solidFill>
            <a:srgbClr val="26C6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3639312"/>
            <a:ext cx="411480" cy="411480"/>
          </a:xfrm>
          <a:prstGeom prst="rect">
            <a:avLst/>
          </a:prstGeom>
          <a:noFill/>
        </p:spPr>
        <p:txBody>
          <a:bodyPr wrap="none">
            <a:spAutoFit/>
          </a:bodyPr>
          <a:lstStyle/>
          <a:p>
            <a:pPr algn="ctr">
              <a:defRPr sz="1600" b="1">
                <a:solidFill>
                  <a:srgbClr val="081224"/>
                </a:solidFill>
              </a:defRPr>
            </a:pPr>
            <a:r>
              <a:t>UI</a:t>
            </a:r>
          </a:p>
        </p:txBody>
      </p:sp>
      <p:sp>
        <p:nvSpPr>
          <p:cNvPr id="25" name="TextBox 24"/>
          <p:cNvSpPr txBox="1"/>
          <p:nvPr/>
        </p:nvSpPr>
        <p:spPr>
          <a:xfrm>
            <a:off x="1463040" y="3657600"/>
            <a:ext cx="2377439" cy="411480"/>
          </a:xfrm>
          <a:prstGeom prst="rect">
            <a:avLst/>
          </a:prstGeom>
          <a:noFill/>
        </p:spPr>
        <p:txBody>
          <a:bodyPr wrap="none">
            <a:spAutoFit/>
          </a:bodyPr>
          <a:lstStyle/>
          <a:p>
            <a:pPr>
              <a:defRPr sz="1600" b="1">
                <a:solidFill>
                  <a:srgbClr val="F5F8FC"/>
                </a:solidFill>
                <a:latin typeface="Aptos"/>
              </a:defRPr>
            </a:pPr>
            <a:r>
              <a:t>User Interface</a:t>
            </a:r>
          </a:p>
        </p:txBody>
      </p:sp>
      <p:sp>
        <p:nvSpPr>
          <p:cNvPr id="26" name="TextBox 25"/>
          <p:cNvSpPr txBox="1"/>
          <p:nvPr/>
        </p:nvSpPr>
        <p:spPr>
          <a:xfrm>
            <a:off x="987552" y="4187952"/>
            <a:ext cx="2825496" cy="914400"/>
          </a:xfrm>
          <a:prstGeom prst="rect">
            <a:avLst/>
          </a:prstGeom>
          <a:noFill/>
        </p:spPr>
        <p:txBody>
          <a:bodyPr wrap="square">
            <a:spAutoFit/>
          </a:bodyPr>
          <a:lstStyle/>
          <a:p>
            <a:pPr>
              <a:spcAft>
                <a:spcPts val="500"/>
              </a:spcAft>
              <a:defRPr sz="1150">
                <a:solidFill>
                  <a:srgbClr val="A6B5C9"/>
                </a:solidFill>
                <a:latin typeface="Aptos"/>
              </a:defRPr>
            </a:pPr>
            <a:r>
              <a:t>Move from console to ASP.NET Core web UI or desktop interface.</a:t>
            </a:r>
          </a:p>
        </p:txBody>
      </p:sp>
      <p:sp>
        <p:nvSpPr>
          <p:cNvPr id="27" name="Rounded Rectangle 26"/>
          <p:cNvSpPr/>
          <p:nvPr/>
        </p:nvSpPr>
        <p:spPr>
          <a:xfrm>
            <a:off x="4480559" y="3474720"/>
            <a:ext cx="3337560" cy="17830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81727" y="3657600"/>
            <a:ext cx="411480" cy="41148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81727" y="3639312"/>
            <a:ext cx="411480" cy="411480"/>
          </a:xfrm>
          <a:prstGeom prst="rect">
            <a:avLst/>
          </a:prstGeom>
          <a:noFill/>
        </p:spPr>
        <p:txBody>
          <a:bodyPr wrap="none">
            <a:spAutoFit/>
          </a:bodyPr>
          <a:lstStyle/>
          <a:p>
            <a:pPr algn="ctr">
              <a:defRPr sz="1600" b="1">
                <a:solidFill>
                  <a:srgbClr val="081224"/>
                </a:solidFill>
              </a:defRPr>
            </a:pPr>
            <a:r>
              <a:t>R</a:t>
            </a:r>
          </a:p>
        </p:txBody>
      </p:sp>
      <p:sp>
        <p:nvSpPr>
          <p:cNvPr id="30" name="TextBox 29"/>
          <p:cNvSpPr txBox="1"/>
          <p:nvPr/>
        </p:nvSpPr>
        <p:spPr>
          <a:xfrm>
            <a:off x="5212079" y="3657600"/>
            <a:ext cx="2377440" cy="411480"/>
          </a:xfrm>
          <a:prstGeom prst="rect">
            <a:avLst/>
          </a:prstGeom>
          <a:noFill/>
        </p:spPr>
        <p:txBody>
          <a:bodyPr wrap="none">
            <a:spAutoFit/>
          </a:bodyPr>
          <a:lstStyle/>
          <a:p>
            <a:pPr>
              <a:defRPr sz="1600" b="1">
                <a:solidFill>
                  <a:srgbClr val="F5F8FC"/>
                </a:solidFill>
                <a:latin typeface="Aptos"/>
              </a:defRPr>
            </a:pPr>
            <a:r>
              <a:t>Reporting</a:t>
            </a:r>
          </a:p>
        </p:txBody>
      </p:sp>
      <p:sp>
        <p:nvSpPr>
          <p:cNvPr id="31" name="TextBox 30"/>
          <p:cNvSpPr txBox="1"/>
          <p:nvPr/>
        </p:nvSpPr>
        <p:spPr>
          <a:xfrm>
            <a:off x="4736592" y="4187952"/>
            <a:ext cx="2825496" cy="914400"/>
          </a:xfrm>
          <a:prstGeom prst="rect">
            <a:avLst/>
          </a:prstGeom>
          <a:noFill/>
        </p:spPr>
        <p:txBody>
          <a:bodyPr wrap="square">
            <a:spAutoFit/>
          </a:bodyPr>
          <a:lstStyle/>
          <a:p>
            <a:pPr>
              <a:spcAft>
                <a:spcPts val="500"/>
              </a:spcAft>
              <a:defRPr sz="1150">
                <a:solidFill>
                  <a:srgbClr val="A6B5C9"/>
                </a:solidFill>
                <a:latin typeface="Aptos"/>
              </a:defRPr>
            </a:pPr>
            <a:r>
              <a:t>Search/filter transactions, statements, account analytics, and exports.</a:t>
            </a:r>
          </a:p>
        </p:txBody>
      </p:sp>
      <p:sp>
        <p:nvSpPr>
          <p:cNvPr id="32" name="Rounded Rectangle 31"/>
          <p:cNvSpPr/>
          <p:nvPr/>
        </p:nvSpPr>
        <p:spPr>
          <a:xfrm>
            <a:off x="8229600" y="3474720"/>
            <a:ext cx="3337560" cy="1783080"/>
          </a:xfrm>
          <a:prstGeom prst="roundRect">
            <a:avLst/>
          </a:prstGeom>
          <a:solidFill>
            <a:srgbClr val="142741"/>
          </a:solidFill>
          <a:ln>
            <a:solidFill>
              <a:srgbClr val="2A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30768" y="3657600"/>
            <a:ext cx="411480" cy="411480"/>
          </a:xfrm>
          <a:prstGeom prst="ellipse">
            <a:avLst/>
          </a:prstGeom>
          <a:solidFill>
            <a:srgbClr val="40C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30768" y="3639312"/>
            <a:ext cx="411480" cy="411480"/>
          </a:xfrm>
          <a:prstGeom prst="rect">
            <a:avLst/>
          </a:prstGeom>
          <a:noFill/>
        </p:spPr>
        <p:txBody>
          <a:bodyPr wrap="none">
            <a:spAutoFit/>
          </a:bodyPr>
          <a:lstStyle/>
          <a:p>
            <a:pPr algn="ctr">
              <a:defRPr sz="1600" b="1">
                <a:solidFill>
                  <a:srgbClr val="081224"/>
                </a:solidFill>
              </a:defRPr>
            </a:pPr>
            <a:r>
              <a:t>T</a:t>
            </a:r>
          </a:p>
        </p:txBody>
      </p:sp>
      <p:sp>
        <p:nvSpPr>
          <p:cNvPr id="35" name="TextBox 34"/>
          <p:cNvSpPr txBox="1"/>
          <p:nvPr/>
        </p:nvSpPr>
        <p:spPr>
          <a:xfrm>
            <a:off x="8961120" y="3657600"/>
            <a:ext cx="2377439" cy="411480"/>
          </a:xfrm>
          <a:prstGeom prst="rect">
            <a:avLst/>
          </a:prstGeom>
          <a:noFill/>
        </p:spPr>
        <p:txBody>
          <a:bodyPr wrap="none">
            <a:spAutoFit/>
          </a:bodyPr>
          <a:lstStyle/>
          <a:p>
            <a:pPr>
              <a:defRPr sz="1600" b="1">
                <a:solidFill>
                  <a:srgbClr val="F5F8FC"/>
                </a:solidFill>
                <a:latin typeface="Aptos"/>
              </a:defRPr>
            </a:pPr>
            <a:r>
              <a:t>Testing &amp; Validation</a:t>
            </a:r>
          </a:p>
        </p:txBody>
      </p:sp>
      <p:sp>
        <p:nvSpPr>
          <p:cNvPr id="36" name="TextBox 35"/>
          <p:cNvSpPr txBox="1"/>
          <p:nvPr/>
        </p:nvSpPr>
        <p:spPr>
          <a:xfrm>
            <a:off x="8485632" y="4187952"/>
            <a:ext cx="2825496" cy="914400"/>
          </a:xfrm>
          <a:prstGeom prst="rect">
            <a:avLst/>
          </a:prstGeom>
          <a:noFill/>
        </p:spPr>
        <p:txBody>
          <a:bodyPr wrap="square">
            <a:spAutoFit/>
          </a:bodyPr>
          <a:lstStyle/>
          <a:p>
            <a:pPr>
              <a:spcAft>
                <a:spcPts val="500"/>
              </a:spcAft>
              <a:defRPr sz="1150">
                <a:solidFill>
                  <a:srgbClr val="A6B5C9"/>
                </a:solidFill>
                <a:latin typeface="Aptos"/>
              </a:defRPr>
            </a:pPr>
            <a:r>
              <a:t>Unit tests, integration tests, stronger input validation, and logging.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TextBox 1"/>
          <p:cNvSpPr txBox="1"/>
          <p:nvPr/>
        </p:nvSpPr>
        <p:spPr>
          <a:xfrm>
            <a:off x="1005840" y="1463040"/>
            <a:ext cx="10149840" cy="914400"/>
          </a:xfrm>
          <a:prstGeom prst="rect">
            <a:avLst/>
          </a:prstGeom>
          <a:noFill/>
        </p:spPr>
        <p:txBody>
          <a:bodyPr wrap="none">
            <a:spAutoFit/>
          </a:bodyPr>
          <a:lstStyle/>
          <a:p>
            <a:pPr algn="ctr">
              <a:defRPr sz="4600" b="1">
                <a:solidFill>
                  <a:srgbClr val="F5F8FC"/>
                </a:solidFill>
                <a:latin typeface="Aptos Display"/>
              </a:defRPr>
            </a:pPr>
            <a:r>
              <a:t>Questions?</a:t>
            </a:r>
          </a:p>
        </p:txBody>
      </p:sp>
      <p:sp>
        <p:nvSpPr>
          <p:cNvPr id="3" name="TextBox 2"/>
          <p:cNvSpPr txBox="1"/>
          <p:nvPr/>
        </p:nvSpPr>
        <p:spPr>
          <a:xfrm>
            <a:off x="1828800" y="2743200"/>
            <a:ext cx="8503920" cy="640080"/>
          </a:xfrm>
          <a:prstGeom prst="rect">
            <a:avLst/>
          </a:prstGeom>
          <a:noFill/>
        </p:spPr>
        <p:txBody>
          <a:bodyPr wrap="none">
            <a:spAutoFit/>
          </a:bodyPr>
          <a:lstStyle/>
          <a:p>
            <a:pPr algn="ctr">
              <a:defRPr sz="2400">
                <a:solidFill>
                  <a:srgbClr val="26C6DA"/>
                </a:solidFill>
              </a:defRPr>
            </a:pPr>
            <a:r>
              <a:t>Thank you for reviewing Figgy Bank.</a:t>
            </a:r>
          </a:p>
        </p:txBody>
      </p:sp>
      <p:sp>
        <p:nvSpPr>
          <p:cNvPr id="4" name="TextBox 3"/>
          <p:cNvSpPr txBox="1"/>
          <p:nvPr/>
        </p:nvSpPr>
        <p:spPr>
          <a:xfrm>
            <a:off x="1828800" y="3703320"/>
            <a:ext cx="8503920" cy="822960"/>
          </a:xfrm>
          <a:prstGeom prst="rect">
            <a:avLst/>
          </a:prstGeom>
          <a:noFill/>
        </p:spPr>
        <p:txBody>
          <a:bodyPr wrap="none">
            <a:spAutoFit/>
          </a:bodyPr>
          <a:lstStyle/>
          <a:p>
            <a:pPr algn="ctr">
              <a:defRPr sz="1700">
                <a:solidFill>
                  <a:srgbClr val="A6B5C9"/>
                </a:solidFill>
              </a:defRPr>
            </a:pPr>
            <a:r>
              <a:t>C#  •  OOP  •  EF Core  •  SQL Server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